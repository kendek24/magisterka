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wskazań</c:v>
                </c:pt>
              </c:strCache>
            </c:strRef>
          </c:tx>
          <c:spPr>
            <a:solidFill>
              <a:srgbClr val="1E88A8"/>
            </a:solidFill>
            <a:effectLst/>
          </c:spPr>
          <c:invertIfNegative val="0"/>
          <c:dLbls>
            <c:numFmt formatCode="0.0&quot;%&quot;" sourceLinked="0"/>
            <c:txPr>
              <a:bodyPr/>
              <a:lstStyle/>
              <a:p>
                <a:pPr>
                  <a:defRPr b="1" i="0" strike="noStrike" sz="1300" u="none">
                    <a:solidFill>
                      <a:srgbClr val="10263E"/>
                    </a:solidFill>
                    <a:latin typeface="Arial"/>
                  </a:defRPr>
                </a:pPr>
              </a:p>
            </c:txPr>
            <c:showLegendKey val="0"/>
            <c:showVal val="1"/>
            <c:showCatName val="0"/>
            <c:showSerName val="0"/>
            <c:showPercent val="0"/>
            <c:showBubbleSize val="0"/>
            <c:showLeaderLines val="0"/>
          </c:dLbls>
          <c:cat>
            <c:multiLvlStrRef>
              <c:f>Sheet1!$A$2:$A$4</c:f>
              <c:multiLvlStrCache>
                <c:ptCount val="3"/>
                <c:lvl>
                  <c:pt idx="0">
                    <c:v>Staw skokowy</c:v>
                  </c:pt>
                  <c:pt idx="1">
                    <c:v>Staw kolanowy</c:v>
                  </c:pt>
                  <c:pt idx="2">
                    <c:v>Mięśnie uda</c:v>
                  </c:pt>
                </c:lvl>
              </c:multiLvlStrCache>
            </c:multiLvlStrRef>
          </c:cat>
          <c:val>
            <c:numRef>
              <c:f>Sheet1!$B$2:$B$4</c:f>
              <c:numCache>
                <c:formatCode>General</c:formatCode>
                <c:ptCount val="3"/>
                <c:pt idx="0">
                  <c:v>33.9</c:v>
                </c:pt>
                <c:pt idx="1">
                  <c:v>30.4</c:v>
                </c:pt>
                <c:pt idx="2">
                  <c:v>21.4</c:v>
                </c:pt>
              </c:numCache>
            </c:numRef>
          </c:val>
        </c:ser>
        <c:dLbls>
          <c:numFmt formatCode="0.0&quot;%&quot;" sourceLinked="0"/>
          <c:txPr>
            <a:bodyPr/>
            <a:lstStyle/>
            <a:p>
              <a:pPr>
                <a:defRPr b="1" i="0" strike="noStrike" sz="1300" u="none">
                  <a:solidFill>
                    <a:srgbClr val="10263E"/>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A3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6F8FA"/>
        </a:solidFill>
        <a:ln>
          <a:noFill/>
        </a:ln>
        <a:effectLst/>
      </c:spPr>
    </c:plotArea>
    <c:plotVisOnly val="1"/>
    <c:dispBlanksAs val="span"/>
  </c:chart>
  <c:spPr>
    <a:solidFill>
      <a:srgbClr val="F6F8F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badanych</c:v>
                </c:pt>
              </c:strCache>
            </c:strRef>
          </c:tx>
          <c:spPr>
            <a:solidFill>
              <a:srgbClr val="1E88A8"/>
            </a:solidFill>
            <a:effectLst/>
          </c:spPr>
          <c:invertIfNegative val="0"/>
          <c:dLbls>
            <c:numFmt formatCode="0.0&quot;%&quot;" sourceLinked="0"/>
            <c:txPr>
              <a:bodyPr/>
              <a:lstStyle/>
              <a:p>
                <a:pPr>
                  <a:defRPr b="1" i="0" strike="noStrike" sz="1250" u="none">
                    <a:solidFill>
                      <a:srgbClr val="10263E"/>
                    </a:solidFill>
                    <a:latin typeface="Arial"/>
                  </a:defRPr>
                </a:pPr>
              </a:p>
            </c:txPr>
            <c:showLegendKey val="0"/>
            <c:showVal val="1"/>
            <c:showCatName val="0"/>
            <c:showSerName val="0"/>
            <c:showPercent val="0"/>
            <c:showBubbleSize val="0"/>
            <c:showLeaderLines val="0"/>
          </c:dLbls>
          <c:cat>
            <c:multiLvlStrRef>
              <c:f>Sheet1!$A$2:$A$4</c:f>
              <c:multiLvlStrCache>
                <c:ptCount val="3"/>
                <c:lvl>
                  <c:pt idx="0">
                    <c:v>Ustrukturyzowana profilaktyka</c:v>
                  </c:pt>
                  <c:pt idx="1">
                    <c:v>Wyłącznie ogólna rozgrzewka</c:v>
                  </c:pt>
                  <c:pt idx="2">
                    <c:v>Brak działań w klubie</c:v>
                  </c:pt>
                </c:lvl>
              </c:multiLvlStrCache>
            </c:multiLvlStrRef>
          </c:cat>
          <c:val>
            <c:numRef>
              <c:f>Sheet1!$B$2:$B$4</c:f>
              <c:numCache>
                <c:formatCode>General</c:formatCode>
                <c:ptCount val="3"/>
                <c:pt idx="0">
                  <c:v>29.9</c:v>
                </c:pt>
                <c:pt idx="1">
                  <c:v>33.8</c:v>
                </c:pt>
                <c:pt idx="2">
                  <c:v>13</c:v>
                </c:pt>
              </c:numCache>
            </c:numRef>
          </c:val>
        </c:ser>
        <c:dLbls>
          <c:numFmt formatCode="0.0&quot;%&quot;" sourceLinked="0"/>
          <c:txPr>
            <a:bodyPr/>
            <a:lstStyle/>
            <a:p>
              <a:pPr>
                <a:defRPr b="1" i="0" strike="noStrike" sz="1250" u="none">
                  <a:solidFill>
                    <a:srgbClr val="10263E"/>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3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6F8FA"/>
        </a:solidFill>
        <a:ln>
          <a:noFill/>
        </a:ln>
        <a:effectLst/>
      </c:spPr>
    </c:plotArea>
    <c:plotVisOnly val="1"/>
    <c:dispBlanksAs val="span"/>
  </c:chart>
  <c:spPr>
    <a:solidFill>
      <a:srgbClr val="F6F8F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Dzień dobry Państwu. Nazywam się Mateusz Klapczyński i chciałbym przedstawić moją pracę magisterską zatytułowaną: Na podstawie analizy urazów, sposoby usprawniania kończyn dolnych u zawodników piłki nożnej. Pracę napisałem pod kierunkiem pana doktora Wojciecha Manikowskiego na kierunku fizjoterapia.
[Czas: 30 sekund]
[Wskazówka: Mów wolniej niż czujesz, że powinieneś. Pierwsze zdanie ustala tempo całej prezentacji, a stres na starcie przyspiesza mowę najbardziej.]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Piłka nożna jest dyscypliną sportową o wyjątkowo dynamicznym charakterze obciążeń. Gwałtowne sprinty, nagłe zmiany kierunku biegu oraz bezpośrednie starcia z przeciwnikiem sprawiają, że kończyny dolne są narażone na kontuzje częściej niż w większości innych dyscyplin. Zdecydowana większość dotychczasowych badań epidemiologicznych dotyczyła jednak piłkarzy na poziomie profesjonalnym i elitarnym. Znacznie mniej wiadomo o zawodnikach poziomu amatorskiego i półprofesjonalnego, którzy stanowią liczebną większość osób uprawiających tę dyscyplinę. To właśnie ta luka poznawcza skłoniła mnie do podjęcia tego tematu.
[Czas: 55 sekund]
[Wskazówka: Przy słowach „luka poznawcza” zrób krótką pauzę przed i po — to sygnał dla komisji, że tu zaczyna się uzasadnienie oryginalności pracy.]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Celem mojej pracy była ocena częstości występowania oraz charakterystyki klinicznej urazów kończyn dolnych u czynnych zawodników piłki nożnej, analiza stosowanego procesu powrotu do gry, oraz weryfikacja zależności między wybranymi czynnikami a ryzykiem urazu i przebiegiem rehabilitacji. Sformułowałem cztery hipotezy badawcze. Pierwsza zakładała, że poziom rozgrywkowy, wiek oraz staż zawodniczy różnicują częstość urazów. Druga, że mechanizm urazu wiąże się z rodzajem uszkodzonej tkanki. Trzecia, że wykonanie testów funkcjonalnych oraz etapowość powrotu do gry wiążą się z poziomem lęku przed ponownym urazem. Czwarta, że stosowanie profilaktyki przekłada się na mniejszą liczbę urazów.
[Czas: 60 sekund]
[Wskazówka: Przy wymienianiu H1–H4 licz je na palcach lub gestem dłoni — to pomaga komisji wizualnie zapamiętać, że będzie ich dokładnie cztery.]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Badaniem objąłem grupę siedemdziesięciu ośmiu czynnych zawodników piłki nożnej, w wieku od szesnastu do czterdziestu trzech lat. Blisko dziewięćdziesiąt pięć procent badanych reprezentowało poziom amatorski lub półprofesjonalny, co odpowiada rzeczywistej strukturze tej dyscypliny w Polsce. Narzędziem badawczym była autorska ankieta internetowa, obejmująca cztery bloki tematyczne, dane epidemiologiczne, charakterystykę urazu, proces rehabilitacji oraz praktykę profilaktyczną. Analizę statystyczną przeprowadziłem w języku Python, zachowując standard prezentacji wyników przyjęty w pakiecie Statistica. Ponieważ rozkłady zmiennych istotnie odbiegały od normalności, zastosowałem testy nieparametryczne: test U Manna-Whitneya, korelację rang Spearmana oraz test chi-kwadrat Pearsona.
[Czas: 55 sekund]
[Wskazówka: Nazwy testów statystycznych wymawiaj pewnie i bez przyspieszania — to miejsce, w którym recenzenci oceniają Twoje opanowanie warsztatu metodologicznego.]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Przeanalizowałem częstość i charakterystykę urazów w badanej grupie. Aż siedemdziesiąt jeden i osiem dziesiątych procent zawodników doznało urazu wykluczającego z gry na co najmniej siedem dni w ciągu ostatnich dwóch lat. Dominującą lokalizacją okazał się staw skokowy, trzydzieści trzy i dziewięć dziesiątych procent wskazań, a następnie staw kolanowy, trzydzieści procent. Interesującym wynikiem był dokładny podział mechanizmu urazu, dokładnie po pięćdziesiąt procent urazów miało charakter kontaktowy i bezkontaktowy. Świadczy to o dwutorowym charakterze etiologii kontuzji w tej dyscyplinie.
[Czas: 60 sekund]
[Wskazówka: Przy „dokładnie po pięćdziesiąt procent” zrób pauzę i lekko podnieś ton głosu — to najbardziej zapadający w pamięć wynik tego slajdu.]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 zakresie pierwszej hipotezy wykazałem istotną statystycznie różnicę w stażu zawodniczym między grupą z urazem a bez urazu, przy wartości p wynoszącej zero przecinek zero trzydzieści dziewięć. Zawodnicy po urazie mieli krótszy staż, mediana dziesięć lat wobec czternastu lat. Natomiast wiek oraz poziom rozgrywkowy nie różnicowały istotnie ryzyka urazu. Hipotezę pierwszą potwierdziłem więc jedynie częściowo, w zakresie stażu zawodniczego. W przypadku drugiej hipotezy nie wykazałem istotnego związku między mechanizmem urazu a rodzajem uszkodzonej tkanki. Hipotezy drugiej nie potwierdziłem.
[Czas: 65 sekund]
[Wskazówka: Słowo „częściowo” wypowiedz wyraźnie i bez pośpiechu — pokazuje to komisji, że rozumiesz niuanse własnych wyników, a nie tylko podajesz gotowe wnioski.]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Trzecia hipoteza dotyczyła procesu powrotu do gry i jego związku z kinezjofobią, czyli lękiem przed ponownym urazem. Wyniki uznaję za jedne z najważniejszych w całej pracy. Aż siedemdziesiąt sześć i osiem dziesiątych procent badanych nie zostało poddanych żadnym obiektywnym testom funkcjonalnym przed powrotem do pełnej aktywności, a prawie sześćdziesiąt procent podjęło tę decyzję samodzielnie, bez udziału personelu medycznego. Wykazałem istotną korelację między etapowością powrotu a nasileniem kinezjofobii, oraz między liczbą przebytych urazów a poziomem lęku. Hipotezę trzecią w pełni potwierdziłem.
[Czas: 65 sekund]
[Wskazówka: Przy liczbie „siedemdziesiąt sześć i osiem dziesiątych procent” zrób wyraźną pauzę przed i lekko zwolnij — to najbardziej alarmujący wynik pracy i powinien zabrzmieć jak jeden.]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Czwarta hipoteza zakładała, że stosowanie profilaktyki wiąże się z mniejszą liczbą urazów. Wyniku tego nie potwierdziłem, wartość p wyniosła zero przecinek dziewięćset trzynaście. Uznaję to jednak za pozorny paradoks. Wyjaśnienia szukam w zjawisku odwrotnej przyczynowości, zawodnicy po urazie mogą wtórnie intensyfikować działania profilaktyczne, oraz w niskiej jakości deklarowanej profilaktyki. Tylko dwadzieścia dziewięć i dziewięć dziesiątych procent zawodników uczestniczyło w profilaktyce zbliżonej do sprawdzonych protokołów, a trening ekscentryczny, mający jedne z najsilniejszych dowodów naukowych na skuteczność, stosowało zaledwie dwadzieścia sześć i dziewięć dziesiątych procent badanych, głównie z powodu braku czasu.
[Czas: 60 sekund]
[Wskazówka: Słowo „paradoks” wypowiedz z lekkim naciskiem — sygnalizuje komisji, że zaraz wytłumaczysz pozornie sprzeczny wynik, więc utrzymasz ich uwagę.]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podstawie zidentyfikowanych deficytów opracowałem trzy modelowe, czterofazowe protokoły usprawniania, dla stawu skokowego, stawu kolanowego po rekonstrukcji ACL oraz mięśni kulszowo-goleniowych. Wspólnym mianownikiem wszystkich trzech protokołów jest zasada criteria-based Return to Play, czyli progresja sterowana obiektywnymi kryteriami funkcjonalnymi i psychologicznymi, a nie wyłącznie upływem czasu od urazu. Kluczowe kryteria to wskaźnik symetrii kończyn na poziomie co najmniej dziewięćdziesięciu procent, bateria testów skoku jednonóż, test Y-Balance oraz skale psychologiczne, Skala Kinezjofobii Tampa i ACL-RSI. Warto podkreślić, że spełnienie takich kryteriów redukuje ryzyko ponownego urazu nawet o osiemdziesiąt cztery procent.
[Czas: 65 sekund]
[Wskazówka: To slajd „praktycznej wartości” pracy — mów z większą energią i pewnością siebie niż na poprzednich slajdach, to Twój wkład aplikacyjny, nie tylko diagnoza problemu.]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Uzyskane wyniki skonfrontowałem z literaturą międzynarodową. Rozkład urazów w mojej grupie, z dominacją stawu skokowego i kolanowego, pozostaje spójny z danymi UEFA Injury Study, mimo że badanie to dotyczyło piłkarzy na poziomie elitarnym, a moja próba składała się w przeważającej mierze z zawodników amatorskich i półprofesjonalnych. Świadczy to o uniwersalnym charakterze podstawowych mechanizmów urazowości w tej dyscyplinie, niezależnie od poziomu sportowego. Muszę jednak zaznaczyć istotne ograniczenia metodologiczne mojej pracy. Badanie miało charakter przekrojowy, co uniemożliwia wnioskowanie o kierunku związków przyczynowo-skutkowych, a dane opierały się na kwestionariuszu samoopisowym, co niesie ryzyko błędu pamięci.
[Czas: 60 sekund]
[Wskazówka: Sekcję ograniczeń wypowiadaj spokojnym, rzeczowym tonem, bez usprawiedliwiania się — to standardowy element dojrzałej dyskusji naukowej, a nie przyznanie się do słabości pracy.]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Podsumowując, badana grupa piłkarzy wykazuje wysoką ekspozycję na urazy kończyn dolnych, z dominującym udziałem stawu skokowego i kolanowego, co pozostaje zgodne z epidemiologią międzynarodową. Staż zawodniczy, a nie wiek czy poziom rozgrywkowy, okazał się istotnym czynnikiem różnicującym ryzyko urazu, co częściowo potwierdza pierwszą hipotezę. Proces powrotu do gry ma w mojej grupie charakter w przeważającej mierze nieobiektywizowany, co w połączeniu z wykazanym związkiem z kinezjofobią potwierdza trzecią hipotezę i wskazuje na pilną potrzebę wdrożenia modelu criteria-based Return to Play. Nie potwierdziłem hipotez dotyczących mechanizmu urazu oraz profilaktyki, co należy interpretować w świetle ograniczeń metodologicznych, a nie jako dowód nieskuteczności prewencji. Na tej podstawie opracowałem trzy modelowe protokoły usprawniania, stanowiące praktyczną odpowiedź na zidentyfikowane deficyty.
[Czas: 65 sekund]
[Wskazówka: To najważniejszy slajd merytoryczny — mów wolniej niż na wszystkich poprzednich i zrób wyraźną pauzę po każdym numerowanym wniosku, żeby komisja zdążyła go zanotować.]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Dziękuję Państwu za uwagę i jestem gotowy odpowiedzieć na pytania.
[Czas: 20 sekund]
[Wskazówka: Po tym zdaniu zamilknij i spójrz na komisję, nie na slajd. Cisza po zakończeniu buduje wrażenie pewności siebie, nie spiesz się do kolejnej czynności.]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63E"/>
        </a:solidFill>
      </p:bgPr>
    </p:bg>
    <p:spTree>
      <p:nvGrpSpPr>
        <p:cNvPr id="1" name=""/>
        <p:cNvGrpSpPr/>
        <p:nvPr/>
      </p:nvGrpSpPr>
      <p:grpSpPr>
        <a:xfrm>
          <a:off x="0" y="0"/>
          <a:ext cx="0" cy="0"/>
          <a:chOff x="0" y="0"/>
          <a:chExt cx="0" cy="0"/>
        </a:xfrm>
      </p:grpSpPr>
      <p:sp>
        <p:nvSpPr>
          <p:cNvPr id="2" name="Shape 0"/>
          <p:cNvSpPr/>
          <p:nvPr/>
        </p:nvSpPr>
        <p:spPr>
          <a:xfrm>
            <a:off x="9692640" y="-2011680"/>
            <a:ext cx="5943600" cy="5943600"/>
          </a:xfrm>
          <a:prstGeom prst="ellipse">
            <a:avLst/>
          </a:prstGeom>
          <a:solidFill>
            <a:srgbClr val="16304F"/>
          </a:solidFill>
          <a:ln/>
        </p:spPr>
      </p:sp>
      <p:sp>
        <p:nvSpPr>
          <p:cNvPr id="3" name="Shape 1"/>
          <p:cNvSpPr/>
          <p:nvPr/>
        </p:nvSpPr>
        <p:spPr>
          <a:xfrm>
            <a:off x="10972800" y="-548640"/>
            <a:ext cx="2926080" cy="2926080"/>
          </a:xfrm>
          <a:prstGeom prst="ellipse">
            <a:avLst/>
          </a:prstGeom>
          <a:solidFill>
            <a:srgbClr val="1E88A8"/>
          </a:solidFill>
          <a:ln/>
        </p:spPr>
      </p:sp>
      <p:sp>
        <p:nvSpPr>
          <p:cNvPr id="4" name="Text 2"/>
          <p:cNvSpPr txBox="1"/>
          <p:nvPr/>
        </p:nvSpPr>
        <p:spPr>
          <a:xfrm>
            <a:off x="731520" y="640080"/>
            <a:ext cx="10515600" cy="365760"/>
          </a:xfrm>
          <a:prstGeom prst="rect">
            <a:avLst/>
          </a:prstGeom>
          <a:noFill/>
          <a:ln/>
        </p:spPr>
        <p:txBody>
          <a:bodyPr wrap="square" lIns="0" tIns="0" rIns="0" bIns="0" rtlCol="0" anchor="ctr"/>
          <a:lstStyle/>
          <a:p>
            <a:pPr indent="0" marL="0">
              <a:buNone/>
            </a:pPr>
            <a:r>
              <a:rPr lang="en-US" sz="1300" b="1" spc="150" kern="0" dirty="0">
                <a:solidFill>
                  <a:srgbClr val="9FB4C7"/>
                </a:solidFill>
                <a:latin typeface="Calibri" pitchFamily="34" charset="0"/>
                <a:ea typeface="Calibri" pitchFamily="34" charset="-122"/>
                <a:cs typeface="Calibri" pitchFamily="34" charset="-120"/>
              </a:rPr>
              <a:t>UNIWERSYTET MEDYCZNY IM. KAROLA MARCINKOWSKIEGO W POZNANIU</a:t>
            </a:r>
            <a:endParaRPr lang="en-US" sz="1300" dirty="0"/>
          </a:p>
        </p:txBody>
      </p:sp>
      <p:sp>
        <p:nvSpPr>
          <p:cNvPr id="5" name="Text 3"/>
          <p:cNvSpPr txBox="1"/>
          <p:nvPr/>
        </p:nvSpPr>
        <p:spPr>
          <a:xfrm>
            <a:off x="731520" y="1024128"/>
            <a:ext cx="10515600" cy="320040"/>
          </a:xfrm>
          <a:prstGeom prst="rect">
            <a:avLst/>
          </a:prstGeom>
          <a:noFill/>
          <a:ln/>
        </p:spPr>
        <p:txBody>
          <a:bodyPr wrap="square" lIns="0" tIns="0" rIns="0" bIns="0" rtlCol="0" anchor="ctr"/>
          <a:lstStyle/>
          <a:p>
            <a:pPr indent="0" marL="0">
              <a:buNone/>
            </a:pPr>
            <a:r>
              <a:rPr lang="en-US" sz="1300" dirty="0">
                <a:solidFill>
                  <a:srgbClr val="9FB4C7"/>
                </a:solidFill>
                <a:latin typeface="Calibri" pitchFamily="34" charset="0"/>
                <a:ea typeface="Calibri" pitchFamily="34" charset="-122"/>
                <a:cs typeface="Calibri" pitchFamily="34" charset="-120"/>
              </a:rPr>
              <a:t>Wydział Nauk o Zdrowiu   •   Kierunek: Fizjoterapia</a:t>
            </a:r>
            <a:endParaRPr lang="en-US" sz="1300" dirty="0"/>
          </a:p>
        </p:txBody>
      </p:sp>
      <p:sp>
        <p:nvSpPr>
          <p:cNvPr id="6" name="Shape 4"/>
          <p:cNvSpPr/>
          <p:nvPr/>
        </p:nvSpPr>
        <p:spPr>
          <a:xfrm>
            <a:off x="731520" y="2514600"/>
            <a:ext cx="914400" cy="0"/>
          </a:xfrm>
          <a:prstGeom prst="line">
            <a:avLst/>
          </a:prstGeom>
          <a:noFill/>
          <a:ln w="38100">
            <a:solidFill>
              <a:srgbClr val="1E88A8"/>
            </a:solidFill>
            <a:prstDash val="solid"/>
          </a:ln>
        </p:spPr>
      </p:sp>
      <p:sp>
        <p:nvSpPr>
          <p:cNvPr id="7" name="Text 5"/>
          <p:cNvSpPr txBox="1"/>
          <p:nvPr/>
        </p:nvSpPr>
        <p:spPr>
          <a:xfrm>
            <a:off x="731520" y="2697480"/>
            <a:ext cx="9875520" cy="1920240"/>
          </a:xfrm>
          <a:prstGeom prst="rect">
            <a:avLst/>
          </a:prstGeom>
          <a:noFill/>
          <a:ln/>
        </p:spPr>
        <p:txBody>
          <a:bodyPr wrap="square" lIns="0" tIns="0" rIns="0" bIns="0" rtlCol="0" anchor="ctr"/>
          <a:lstStyle/>
          <a:p>
            <a:pPr indent="0" marL="0">
              <a:lnSpc>
                <a:spcPct val="115000"/>
              </a:lnSpc>
              <a:buNone/>
            </a:pPr>
            <a:r>
              <a:rPr lang="en-US" sz="3400" b="1" dirty="0">
                <a:solidFill>
                  <a:srgbClr val="FFFFFF"/>
                </a:solidFill>
                <a:latin typeface="Cambria" pitchFamily="34" charset="0"/>
                <a:ea typeface="Cambria" pitchFamily="34" charset="-122"/>
                <a:cs typeface="Cambria" pitchFamily="34" charset="-120"/>
              </a:rPr>
              <a:t>Na podstawie analizy urazów – sposoby usprawniania</a:t>
            </a:r>
            <a:endParaRPr lang="en-US" sz="3400" dirty="0"/>
          </a:p>
          <a:p>
            <a:pPr indent="0" marL="0">
              <a:lnSpc>
                <a:spcPct val="115000"/>
              </a:lnSpc>
              <a:buNone/>
            </a:pPr>
            <a:r>
              <a:rPr lang="en-US" sz="3400" b="1" dirty="0">
                <a:solidFill>
                  <a:srgbClr val="FFFFFF"/>
                </a:solidFill>
                <a:latin typeface="Cambria" pitchFamily="34" charset="0"/>
                <a:ea typeface="Cambria" pitchFamily="34" charset="-122"/>
                <a:cs typeface="Cambria" pitchFamily="34" charset="-120"/>
              </a:rPr>
              <a:t>kończyn dolnych u zawodników piłki nożnej</a:t>
            </a:r>
            <a:endParaRPr lang="en-US" sz="3400" dirty="0"/>
          </a:p>
        </p:txBody>
      </p:sp>
      <p:sp>
        <p:nvSpPr>
          <p:cNvPr id="8" name="Text 6"/>
          <p:cNvSpPr txBox="1"/>
          <p:nvPr/>
        </p:nvSpPr>
        <p:spPr>
          <a:xfrm>
            <a:off x="731520" y="4617720"/>
            <a:ext cx="5486400" cy="365760"/>
          </a:xfrm>
          <a:prstGeom prst="rect">
            <a:avLst/>
          </a:prstGeom>
          <a:noFill/>
          <a:ln/>
        </p:spPr>
        <p:txBody>
          <a:bodyPr wrap="square" lIns="0" tIns="0" rIns="0" bIns="0" rtlCol="0" anchor="ctr"/>
          <a:lstStyle/>
          <a:p>
            <a:pPr indent="0" marL="0">
              <a:buNone/>
            </a:pPr>
            <a:r>
              <a:rPr lang="en-US" sz="1500" i="1" dirty="0">
                <a:solidFill>
                  <a:srgbClr val="1E88A8"/>
                </a:solidFill>
                <a:latin typeface="Calibri" pitchFamily="34" charset="0"/>
                <a:ea typeface="Calibri" pitchFamily="34" charset="-122"/>
                <a:cs typeface="Calibri" pitchFamily="34" charset="-120"/>
              </a:rPr>
              <a:t>Praca magisterska</a:t>
            </a:r>
            <a:endParaRPr lang="en-US" sz="1500" dirty="0"/>
          </a:p>
        </p:txBody>
      </p:sp>
      <p:sp>
        <p:nvSpPr>
          <p:cNvPr id="9" name="Text 7"/>
          <p:cNvSpPr txBox="1"/>
          <p:nvPr/>
        </p:nvSpPr>
        <p:spPr>
          <a:xfrm>
            <a:off x="731520" y="5349240"/>
            <a:ext cx="7315200" cy="914400"/>
          </a:xfrm>
          <a:prstGeom prst="rect">
            <a:avLst/>
          </a:prstGeom>
          <a:noFill/>
          <a:ln/>
        </p:spPr>
        <p:txBody>
          <a:bodyPr wrap="square" lIns="0" tIns="0" rIns="0" bIns="0" rtlCol="0" anchor="ctr"/>
          <a:lstStyle/>
          <a:p>
            <a:pPr indent="0" marL="0">
              <a:lnSpc>
                <a:spcPct val="130000"/>
              </a:lnSpc>
              <a:buNone/>
            </a:pPr>
            <a:r>
              <a:rPr lang="en-US" sz="1400" b="1" dirty="0">
                <a:solidFill>
                  <a:srgbClr val="9FB4C7"/>
                </a:solidFill>
                <a:latin typeface="Calibri" pitchFamily="34" charset="0"/>
                <a:ea typeface="Calibri" pitchFamily="34" charset="-122"/>
                <a:cs typeface="Calibri" pitchFamily="34" charset="-120"/>
              </a:rPr>
              <a:t>Autor: </a:t>
            </a:r>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Mateusz Klapczyński
</a:t>
            </a:r>
            <a:pPr indent="0" marL="0">
              <a:lnSpc>
                <a:spcPct val="130000"/>
              </a:lnSpc>
              <a:buNone/>
            </a:pPr>
            <a:r>
              <a:rPr lang="en-US" sz="1400" b="1" dirty="0">
                <a:solidFill>
                  <a:srgbClr val="9FB4C7"/>
                </a:solidFill>
                <a:latin typeface="Calibri" pitchFamily="34" charset="0"/>
                <a:ea typeface="Calibri" pitchFamily="34" charset="-122"/>
                <a:cs typeface="Calibri" pitchFamily="34" charset="-120"/>
              </a:rPr>
              <a:t>Promotor: </a:t>
            </a:r>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dr n. med. Wojciech Manikowski</a:t>
            </a:r>
            <a:endParaRPr lang="en-US" sz="1400" dirty="0"/>
          </a:p>
        </p:txBody>
      </p:sp>
      <p:sp>
        <p:nvSpPr>
          <p:cNvPr id="10" name="Text 8"/>
          <p:cNvSpPr txBox="1"/>
          <p:nvPr/>
        </p:nvSpPr>
        <p:spPr>
          <a:xfrm>
            <a:off x="731520" y="6309360"/>
            <a:ext cx="3657600" cy="320040"/>
          </a:xfrm>
          <a:prstGeom prst="rect">
            <a:avLst/>
          </a:prstGeom>
          <a:noFill/>
          <a:ln/>
        </p:spPr>
        <p:txBody>
          <a:bodyPr wrap="square" lIns="0" tIns="0" rIns="0" bIns="0" rtlCol="0" anchor="ctr"/>
          <a:lstStyle/>
          <a:p>
            <a:pPr indent="0" marL="0">
              <a:buNone/>
            </a:pPr>
            <a:r>
              <a:rPr lang="en-US" sz="1150" dirty="0">
                <a:solidFill>
                  <a:srgbClr val="7C90A3"/>
                </a:solidFill>
                <a:latin typeface="Calibri" pitchFamily="34" charset="0"/>
                <a:ea typeface="Calibri" pitchFamily="34" charset="-122"/>
                <a:cs typeface="Calibri" pitchFamily="34" charset="-120"/>
              </a:rPr>
              <a:t>Poznań,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A"/>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56032"/>
          </a:xfrm>
          <a:prstGeom prst="rect">
            <a:avLst/>
          </a:prstGeom>
          <a:noFill/>
          <a:ln/>
        </p:spPr>
        <p:txBody>
          <a:bodyPr wrap="square" lIns="0" tIns="0" rIns="0" bIns="0" rtlCol="0" anchor="t"/>
          <a:lstStyle/>
          <a:p>
            <a:pPr indent="0" marL="0">
              <a:buNone/>
            </a:pPr>
            <a:r>
              <a:rPr lang="en-US" sz="1300" b="1" spc="200" kern="0" dirty="0">
                <a:solidFill>
                  <a:srgbClr val="1E88A8"/>
                </a:solidFill>
                <a:latin typeface="Calibri" pitchFamily="34" charset="0"/>
                <a:ea typeface="Calibri" pitchFamily="34" charset="-122"/>
                <a:cs typeface="Calibri" pitchFamily="34" charset="-120"/>
              </a:rPr>
              <a:t>WPROWADZENIE</a:t>
            </a:r>
            <a:endParaRPr lang="en-US" sz="1300" dirty="0"/>
          </a:p>
        </p:txBody>
      </p:sp>
      <p:sp>
        <p:nvSpPr>
          <p:cNvPr id="3" name="Text 1"/>
          <p:cNvSpPr txBox="1"/>
          <p:nvPr/>
        </p:nvSpPr>
        <p:spPr>
          <a:xfrm>
            <a:off x="548640" y="749808"/>
            <a:ext cx="11064240" cy="822960"/>
          </a:xfrm>
          <a:prstGeom prst="rect">
            <a:avLst/>
          </a:prstGeom>
          <a:noFill/>
          <a:ln/>
        </p:spPr>
        <p:txBody>
          <a:bodyPr wrap="square" lIns="0" tIns="0" rIns="0" bIns="0" rtlCol="0" anchor="ctr"/>
          <a:lstStyle/>
          <a:p>
            <a:pPr indent="0" marL="0">
              <a:buNone/>
            </a:pPr>
            <a:r>
              <a:rPr lang="en-US" sz="3200" b="1" dirty="0">
                <a:solidFill>
                  <a:srgbClr val="10263E"/>
                </a:solidFill>
                <a:latin typeface="Cambria" pitchFamily="34" charset="0"/>
                <a:ea typeface="Cambria" pitchFamily="34" charset="-122"/>
                <a:cs typeface="Cambria" pitchFamily="34" charset="-120"/>
              </a:rPr>
              <a:t>Dynamika dyscypliny a ryzyko urazu</a:t>
            </a:r>
            <a:endParaRPr lang="en-US" sz="3200" dirty="0"/>
          </a:p>
        </p:txBody>
      </p:sp>
      <p:sp>
        <p:nvSpPr>
          <p:cNvPr id="4" name="Text 2"/>
          <p:cNvSpPr txBox="1"/>
          <p:nvPr/>
        </p:nvSpPr>
        <p:spPr>
          <a:xfrm>
            <a:off x="548640" y="1828800"/>
            <a:ext cx="6309360" cy="420624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rgbClr val="1B2A3A"/>
                </a:solidFill>
                <a:latin typeface="Calibri" pitchFamily="34" charset="0"/>
                <a:ea typeface="Calibri" pitchFamily="34" charset="-122"/>
                <a:cs typeface="Calibri" pitchFamily="34" charset="-120"/>
              </a:rPr>
              <a:t>Piłka nożna: najdynamiczniejsza pod względem obciążeń dyscyplina zespołowa</a:t>
            </a:r>
            <a:endParaRPr lang="en-US" sz="1600" dirty="0"/>
          </a:p>
          <a:p>
            <a:pPr marL="342900" indent="-342900">
              <a:spcAft>
                <a:spcPts val="1400"/>
              </a:spcAft>
              <a:buSzPct val="100000"/>
              <a:buChar char="▪"/>
            </a:pPr>
            <a:r>
              <a:rPr lang="en-US" sz="1600" dirty="0">
                <a:solidFill>
                  <a:srgbClr val="1B2A3A"/>
                </a:solidFill>
                <a:latin typeface="Calibri" pitchFamily="34" charset="0"/>
                <a:ea typeface="Calibri" pitchFamily="34" charset="-122"/>
                <a:cs typeface="Calibri" pitchFamily="34" charset="-120"/>
              </a:rPr>
              <a:t>Sprinty, zmiany kierunku, zwarcia i lądowania — wysokie ryzyko urazów kończyn dolnych</a:t>
            </a:r>
            <a:endParaRPr lang="en-US" sz="1600" dirty="0"/>
          </a:p>
          <a:p>
            <a:pPr marL="342900" indent="-342900">
              <a:spcAft>
                <a:spcPts val="1400"/>
              </a:spcAft>
              <a:buSzPct val="100000"/>
              <a:buChar char="▪"/>
            </a:pPr>
            <a:r>
              <a:rPr lang="en-US" sz="1600" dirty="0">
                <a:solidFill>
                  <a:srgbClr val="1B2A3A"/>
                </a:solidFill>
                <a:latin typeface="Calibri" pitchFamily="34" charset="0"/>
                <a:ea typeface="Calibri" pitchFamily="34" charset="-122"/>
                <a:cs typeface="Calibri" pitchFamily="34" charset="-120"/>
              </a:rPr>
              <a:t>Kończyny dolne: dominująca lokalizacja kontuzji w piłce nożnej</a:t>
            </a:r>
            <a:endParaRPr lang="en-US" sz="1600" dirty="0"/>
          </a:p>
          <a:p>
            <a:pPr marL="342900" indent="-342900">
              <a:spcAft>
                <a:spcPts val="1400"/>
              </a:spcAft>
              <a:buSzPct val="100000"/>
              <a:buChar char="▪"/>
            </a:pPr>
            <a:r>
              <a:rPr lang="en-US" sz="1600" dirty="0">
                <a:solidFill>
                  <a:srgbClr val="1B2A3A"/>
                </a:solidFill>
                <a:latin typeface="Calibri" pitchFamily="34" charset="0"/>
                <a:ea typeface="Calibri" pitchFamily="34" charset="-122"/>
                <a:cs typeface="Calibri" pitchFamily="34" charset="-120"/>
              </a:rPr>
              <a:t>Większość dotychczasowych badań dotyczy poziomu elitarnego</a:t>
            </a:r>
            <a:endParaRPr lang="en-US" sz="1600" dirty="0"/>
          </a:p>
          <a:p>
            <a:pPr marL="342900" indent="-342900">
              <a:spcAft>
                <a:spcPts val="1400"/>
              </a:spcAft>
              <a:buSzPct val="100000"/>
              <a:buChar char="▪"/>
            </a:pPr>
            <a:r>
              <a:rPr lang="en-US" sz="1600" dirty="0">
                <a:solidFill>
                  <a:srgbClr val="1B2A3A"/>
                </a:solidFill>
                <a:latin typeface="Calibri" pitchFamily="34" charset="0"/>
                <a:ea typeface="Calibri" pitchFamily="34" charset="-122"/>
                <a:cs typeface="Calibri" pitchFamily="34" charset="-120"/>
              </a:rPr>
              <a:t>Luka badawcza: brak danych z poziomu amatorskiego i półprofesjonalnego</a:t>
            </a:r>
            <a:endParaRPr lang="en-US" sz="1600" dirty="0"/>
          </a:p>
        </p:txBody>
      </p:sp>
      <p:sp>
        <p:nvSpPr>
          <p:cNvPr id="5" name="Shape 3"/>
          <p:cNvSpPr/>
          <p:nvPr/>
        </p:nvSpPr>
        <p:spPr>
          <a:xfrm>
            <a:off x="7315200" y="1600200"/>
            <a:ext cx="4343400" cy="4434840"/>
          </a:xfrm>
          <a:prstGeom prst="roundRect">
            <a:avLst>
              <a:gd name="adj" fmla="val 1684"/>
            </a:avLst>
          </a:prstGeom>
          <a:solidFill>
            <a:srgbClr val="10263E"/>
          </a:solidFill>
          <a:ln/>
        </p:spPr>
      </p:sp>
      <p:sp>
        <p:nvSpPr>
          <p:cNvPr id="6" name="Text 4"/>
          <p:cNvSpPr txBox="1"/>
          <p:nvPr/>
        </p:nvSpPr>
        <p:spPr>
          <a:xfrm>
            <a:off x="7635240" y="1828800"/>
            <a:ext cx="3749040" cy="777240"/>
          </a:xfrm>
          <a:prstGeom prst="rect">
            <a:avLst/>
          </a:prstGeom>
          <a:noFill/>
          <a:ln/>
        </p:spPr>
        <p:txBody>
          <a:bodyPr wrap="square" lIns="0" tIns="0" rIns="0" bIns="0" rtlCol="0" anchor="t"/>
          <a:lstStyle/>
          <a:p>
            <a:pPr indent="0" marL="0">
              <a:lnSpc>
                <a:spcPct val="115000"/>
              </a:lnSpc>
              <a:buNone/>
            </a:pPr>
            <a:r>
              <a:rPr lang="en-US" sz="1500" b="1" dirty="0">
                <a:solidFill>
                  <a:srgbClr val="FFFFFF"/>
                </a:solidFill>
                <a:latin typeface="Cambria" pitchFamily="34" charset="0"/>
                <a:ea typeface="Cambria" pitchFamily="34" charset="-122"/>
                <a:cs typeface="Cambria" pitchFamily="34" charset="-120"/>
              </a:rPr>
              <a:t>Kończyna dolna</a:t>
            </a:r>
            <a:endParaRPr lang="en-US" sz="1500" dirty="0"/>
          </a:p>
          <a:p>
            <a:pPr indent="0" marL="0">
              <a:lnSpc>
                <a:spcPct val="115000"/>
              </a:lnSpc>
              <a:buNone/>
            </a:pPr>
            <a:r>
              <a:rPr lang="en-US" sz="1500" b="1" dirty="0">
                <a:solidFill>
                  <a:srgbClr val="FFFFFF"/>
                </a:solidFill>
                <a:latin typeface="Cambria" pitchFamily="34" charset="0"/>
                <a:ea typeface="Cambria" pitchFamily="34" charset="-122"/>
                <a:cs typeface="Cambria" pitchFamily="34" charset="-120"/>
              </a:rPr>
              <a:t>pod obciążeniem</a:t>
            </a:r>
            <a:endParaRPr lang="en-US" sz="1500" dirty="0"/>
          </a:p>
        </p:txBody>
      </p:sp>
      <p:sp>
        <p:nvSpPr>
          <p:cNvPr id="7" name="Shape 5"/>
          <p:cNvSpPr/>
          <p:nvPr/>
        </p:nvSpPr>
        <p:spPr>
          <a:xfrm>
            <a:off x="7635240" y="2788920"/>
            <a:ext cx="502920" cy="502920"/>
          </a:xfrm>
          <a:prstGeom prst="ellipse">
            <a:avLst/>
          </a:prstGeom>
          <a:solidFill>
            <a:srgbClr val="1E88A8"/>
          </a:solidFill>
          <a:ln/>
        </p:spPr>
      </p:sp>
      <p:sp>
        <p:nvSpPr>
          <p:cNvPr id="8" name="Text 6"/>
          <p:cNvSpPr txBox="1"/>
          <p:nvPr/>
        </p:nvSpPr>
        <p:spPr>
          <a:xfrm>
            <a:off x="7635240" y="2788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7"/>
          <p:cNvSpPr txBox="1"/>
          <p:nvPr/>
        </p:nvSpPr>
        <p:spPr>
          <a:xfrm>
            <a:off x="8321040" y="2788920"/>
            <a:ext cx="3108960" cy="5029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Staw biodrowy</a:t>
            </a:r>
            <a:endParaRPr lang="en-US" sz="1450" dirty="0"/>
          </a:p>
        </p:txBody>
      </p:sp>
      <p:sp>
        <p:nvSpPr>
          <p:cNvPr id="10" name="Shape 8"/>
          <p:cNvSpPr/>
          <p:nvPr/>
        </p:nvSpPr>
        <p:spPr>
          <a:xfrm>
            <a:off x="7635240" y="3794760"/>
            <a:ext cx="502920" cy="502920"/>
          </a:xfrm>
          <a:prstGeom prst="ellipse">
            <a:avLst/>
          </a:prstGeom>
          <a:solidFill>
            <a:srgbClr val="1E88A8"/>
          </a:solidFill>
          <a:ln/>
        </p:spPr>
      </p:sp>
      <p:sp>
        <p:nvSpPr>
          <p:cNvPr id="11" name="Text 9"/>
          <p:cNvSpPr txBox="1"/>
          <p:nvPr/>
        </p:nvSpPr>
        <p:spPr>
          <a:xfrm>
            <a:off x="7635240" y="3794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8321040" y="3794760"/>
            <a:ext cx="3108960" cy="5029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Staw kolanowy</a:t>
            </a:r>
            <a:endParaRPr lang="en-US" sz="1450" dirty="0"/>
          </a:p>
        </p:txBody>
      </p:sp>
      <p:sp>
        <p:nvSpPr>
          <p:cNvPr id="13" name="Shape 11"/>
          <p:cNvSpPr/>
          <p:nvPr/>
        </p:nvSpPr>
        <p:spPr>
          <a:xfrm>
            <a:off x="7635240" y="4800600"/>
            <a:ext cx="502920" cy="502920"/>
          </a:xfrm>
          <a:prstGeom prst="ellipse">
            <a:avLst/>
          </a:prstGeom>
          <a:solidFill>
            <a:srgbClr val="1E88A8"/>
          </a:solidFill>
          <a:ln/>
        </p:spPr>
      </p:sp>
      <p:sp>
        <p:nvSpPr>
          <p:cNvPr id="14" name="Text 12"/>
          <p:cNvSpPr txBox="1"/>
          <p:nvPr/>
        </p:nvSpPr>
        <p:spPr>
          <a:xfrm>
            <a:off x="7635240" y="48006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Text 13"/>
          <p:cNvSpPr txBox="1"/>
          <p:nvPr/>
        </p:nvSpPr>
        <p:spPr>
          <a:xfrm>
            <a:off x="8321040" y="4800600"/>
            <a:ext cx="3108960" cy="5029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Staw skokowy</a:t>
            </a:r>
            <a:endParaRPr lang="en-US" sz="1450" dirty="0"/>
          </a:p>
        </p:txBody>
      </p:sp>
      <p:sp>
        <p:nvSpPr>
          <p:cNvPr id="16" name="Text 14"/>
          <p:cNvSpPr txBox="1"/>
          <p:nvPr/>
        </p:nvSpPr>
        <p:spPr>
          <a:xfrm>
            <a:off x="11368735" y="6355080"/>
            <a:ext cx="457200" cy="320040"/>
          </a:xfrm>
          <a:prstGeom prst="rect">
            <a:avLst/>
          </a:prstGeom>
          <a:noFill/>
          <a:ln/>
        </p:spPr>
        <p:txBody>
          <a:bodyPr wrap="square" lIns="0" tIns="0" rIns="0" bIns="0" rtlCol="0" anchor="ctr"/>
          <a:lstStyle/>
          <a:p>
            <a:pPr algn="r" indent="0" marL="0">
              <a:buNone/>
            </a:pPr>
            <a:r>
              <a:rPr lang="en-US" sz="1100" dirty="0">
                <a:solidFill>
                  <a:srgbClr val="5B6B7C"/>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A"/>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56032"/>
          </a:xfrm>
          <a:prstGeom prst="rect">
            <a:avLst/>
          </a:prstGeom>
          <a:noFill/>
          <a:ln/>
        </p:spPr>
        <p:txBody>
          <a:bodyPr wrap="square" lIns="0" tIns="0" rIns="0" bIns="0" rtlCol="0" anchor="t"/>
          <a:lstStyle/>
          <a:p>
            <a:pPr indent="0" marL="0">
              <a:buNone/>
            </a:pPr>
            <a:r>
              <a:rPr lang="en-US" sz="1300" b="1" spc="200" kern="0" dirty="0">
                <a:solidFill>
                  <a:srgbClr val="1E88A8"/>
                </a:solidFill>
                <a:latin typeface="Calibri" pitchFamily="34" charset="0"/>
                <a:ea typeface="Calibri" pitchFamily="34" charset="-122"/>
                <a:cs typeface="Calibri" pitchFamily="34" charset="-120"/>
              </a:rPr>
              <a:t>CEL I HIPOTEZY BADAWCZE</a:t>
            </a:r>
            <a:endParaRPr lang="en-US" sz="1300" dirty="0"/>
          </a:p>
        </p:txBody>
      </p:sp>
      <p:sp>
        <p:nvSpPr>
          <p:cNvPr id="3" name="Text 1"/>
          <p:cNvSpPr txBox="1"/>
          <p:nvPr/>
        </p:nvSpPr>
        <p:spPr>
          <a:xfrm>
            <a:off x="548640" y="749808"/>
            <a:ext cx="11064240" cy="822960"/>
          </a:xfrm>
          <a:prstGeom prst="rect">
            <a:avLst/>
          </a:prstGeom>
          <a:noFill/>
          <a:ln/>
        </p:spPr>
        <p:txBody>
          <a:bodyPr wrap="square" lIns="0" tIns="0" rIns="0" bIns="0" rtlCol="0" anchor="ctr"/>
          <a:lstStyle/>
          <a:p>
            <a:pPr indent="0" marL="0">
              <a:buNone/>
            </a:pPr>
            <a:r>
              <a:rPr lang="en-US" sz="3200" b="1" dirty="0">
                <a:solidFill>
                  <a:srgbClr val="10263E"/>
                </a:solidFill>
                <a:latin typeface="Cambria" pitchFamily="34" charset="0"/>
                <a:ea typeface="Cambria" pitchFamily="34" charset="-122"/>
                <a:cs typeface="Cambria" pitchFamily="34" charset="-120"/>
              </a:rPr>
              <a:t>Cztery hipotezy, jeden cel</a:t>
            </a:r>
            <a:endParaRPr lang="en-US" sz="3200" dirty="0"/>
          </a:p>
        </p:txBody>
      </p:sp>
      <p:sp>
        <p:nvSpPr>
          <p:cNvPr id="4" name="Shape 2"/>
          <p:cNvSpPr/>
          <p:nvPr/>
        </p:nvSpPr>
        <p:spPr>
          <a:xfrm>
            <a:off x="548640" y="1691640"/>
            <a:ext cx="11064240" cy="868680"/>
          </a:xfrm>
          <a:prstGeom prst="roundRect">
            <a:avLst>
              <a:gd name="adj" fmla="val 6316"/>
            </a:avLst>
          </a:prstGeom>
          <a:solidFill>
            <a:srgbClr val="FFFFFF"/>
          </a:solidFill>
          <a:ln/>
          <a:effectLst>
            <a:outerShdw sx="100000" sy="100000" kx="0" ky="0" algn="bl" rotWithShape="0" blurRad="63500" dist="25400" dir="5400000">
              <a:srgbClr val="8AA0B4">
                <a:alpha val="20000"/>
              </a:srgbClr>
            </a:outerShdw>
          </a:effectLst>
        </p:spPr>
      </p:sp>
      <p:sp>
        <p:nvSpPr>
          <p:cNvPr id="5" name="Text 3"/>
          <p:cNvSpPr txBox="1"/>
          <p:nvPr/>
        </p:nvSpPr>
        <p:spPr>
          <a:xfrm>
            <a:off x="822960" y="1783080"/>
            <a:ext cx="10515600" cy="713232"/>
          </a:xfrm>
          <a:prstGeom prst="rect">
            <a:avLst/>
          </a:prstGeom>
          <a:noFill/>
          <a:ln/>
        </p:spPr>
        <p:txBody>
          <a:bodyPr wrap="square" lIns="0" tIns="0" rIns="0" bIns="0" rtlCol="0" anchor="ctr"/>
          <a:lstStyle/>
          <a:p>
            <a:pPr indent="0" marL="0">
              <a:lnSpc>
                <a:spcPct val="105000"/>
              </a:lnSpc>
              <a:buNone/>
            </a:pPr>
            <a:r>
              <a:rPr lang="en-US" sz="1350" b="1" dirty="0">
                <a:solidFill>
                  <a:srgbClr val="10263E"/>
                </a:solidFill>
                <a:latin typeface="Calibri" pitchFamily="34" charset="0"/>
                <a:ea typeface="Calibri" pitchFamily="34" charset="-122"/>
                <a:cs typeface="Calibri" pitchFamily="34" charset="-120"/>
              </a:rPr>
              <a:t>Cel pracy: </a:t>
            </a:r>
            <a:pPr indent="0" marL="0">
              <a:lnSpc>
                <a:spcPct val="105000"/>
              </a:lnSpc>
              <a:buNone/>
            </a:pPr>
            <a:r>
              <a:rPr lang="en-US" sz="1350" dirty="0">
                <a:solidFill>
                  <a:srgbClr val="1B2A3A"/>
                </a:solidFill>
                <a:latin typeface="Calibri" pitchFamily="34" charset="0"/>
                <a:ea typeface="Calibri" pitchFamily="34" charset="-122"/>
                <a:cs typeface="Calibri" pitchFamily="34" charset="-120"/>
              </a:rPr>
              <a:t>ocena częstości i charakterystyki urazów kończyn dolnych, analiza procesu powrotu do gry (Return to Play) oraz weryfikacja zależności między czynnikami podmiotowymi, przebiegiem rehabilitacji i jej następstwami psychologicznymi.</a:t>
            </a:r>
            <a:endParaRPr lang="en-US" sz="1350" dirty="0"/>
          </a:p>
        </p:txBody>
      </p:sp>
      <p:sp>
        <p:nvSpPr>
          <p:cNvPr id="6" name="Shape 4"/>
          <p:cNvSpPr/>
          <p:nvPr/>
        </p:nvSpPr>
        <p:spPr>
          <a:xfrm>
            <a:off x="548640" y="2880360"/>
            <a:ext cx="11064240" cy="896112"/>
          </a:xfrm>
          <a:prstGeom prst="roundRect">
            <a:avLst>
              <a:gd name="adj" fmla="val 7143"/>
            </a:avLst>
          </a:prstGeom>
          <a:solidFill>
            <a:srgbClr val="FFFFFF"/>
          </a:solidFill>
          <a:ln/>
          <a:effectLst>
            <a:outerShdw sx="100000" sy="100000" kx="0" ky="0" algn="bl" rotWithShape="0" blurRad="50800" dist="19050" dir="5400000">
              <a:srgbClr val="8AA0B4">
                <a:alpha val="18000"/>
              </a:srgbClr>
            </a:outerShdw>
          </a:effectLst>
        </p:spPr>
      </p:sp>
      <p:sp>
        <p:nvSpPr>
          <p:cNvPr id="7" name="Shape 5"/>
          <p:cNvSpPr/>
          <p:nvPr/>
        </p:nvSpPr>
        <p:spPr>
          <a:xfrm>
            <a:off x="822960" y="3008376"/>
            <a:ext cx="640080" cy="640080"/>
          </a:xfrm>
          <a:prstGeom prst="ellipse">
            <a:avLst/>
          </a:prstGeom>
          <a:solidFill>
            <a:srgbClr val="E8604C"/>
          </a:solidFill>
          <a:ln/>
        </p:spPr>
      </p:sp>
      <p:sp>
        <p:nvSpPr>
          <p:cNvPr id="8" name="Text 6"/>
          <p:cNvSpPr txBox="1"/>
          <p:nvPr/>
        </p:nvSpPr>
        <p:spPr>
          <a:xfrm>
            <a:off x="822960" y="3008376"/>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H1</a:t>
            </a:r>
            <a:endParaRPr lang="en-US" sz="1600" dirty="0"/>
          </a:p>
        </p:txBody>
      </p:sp>
      <p:sp>
        <p:nvSpPr>
          <p:cNvPr id="9" name="Text 7"/>
          <p:cNvSpPr txBox="1"/>
          <p:nvPr/>
        </p:nvSpPr>
        <p:spPr>
          <a:xfrm>
            <a:off x="1691640" y="2880360"/>
            <a:ext cx="9692640" cy="896112"/>
          </a:xfrm>
          <a:prstGeom prst="rect">
            <a:avLst/>
          </a:prstGeom>
          <a:noFill/>
          <a:ln/>
        </p:spPr>
        <p:txBody>
          <a:bodyPr wrap="square" lIns="0" tIns="0" rIns="0" bIns="0" rtlCol="0" anchor="ctr"/>
          <a:lstStyle/>
          <a:p>
            <a:pPr indent="0" marL="0">
              <a:buNone/>
            </a:pPr>
            <a:r>
              <a:rPr lang="en-US" sz="1450" dirty="0">
                <a:solidFill>
                  <a:srgbClr val="1B2A3A"/>
                </a:solidFill>
                <a:latin typeface="Calibri" pitchFamily="34" charset="0"/>
                <a:ea typeface="Calibri" pitchFamily="34" charset="-122"/>
                <a:cs typeface="Calibri" pitchFamily="34" charset="-120"/>
              </a:rPr>
              <a:t>Poziom rozgrywkowy, wiek oraz staż zawodniczy różnicują częstość i liczbę urazów.</a:t>
            </a:r>
            <a:endParaRPr lang="en-US" sz="1450" dirty="0"/>
          </a:p>
        </p:txBody>
      </p:sp>
      <p:sp>
        <p:nvSpPr>
          <p:cNvPr id="10" name="Shape 8"/>
          <p:cNvSpPr/>
          <p:nvPr/>
        </p:nvSpPr>
        <p:spPr>
          <a:xfrm>
            <a:off x="548640" y="3886200"/>
            <a:ext cx="11064240" cy="896112"/>
          </a:xfrm>
          <a:prstGeom prst="roundRect">
            <a:avLst>
              <a:gd name="adj" fmla="val 7143"/>
            </a:avLst>
          </a:prstGeom>
          <a:solidFill>
            <a:srgbClr val="FFFFFF"/>
          </a:solidFill>
          <a:ln/>
          <a:effectLst>
            <a:outerShdw sx="100000" sy="100000" kx="0" ky="0" algn="bl" rotWithShape="0" blurRad="50800" dist="19050" dir="5400000">
              <a:srgbClr val="8AA0B4">
                <a:alpha val="18000"/>
              </a:srgbClr>
            </a:outerShdw>
          </a:effectLst>
        </p:spPr>
      </p:sp>
      <p:sp>
        <p:nvSpPr>
          <p:cNvPr id="11" name="Shape 9"/>
          <p:cNvSpPr/>
          <p:nvPr/>
        </p:nvSpPr>
        <p:spPr>
          <a:xfrm>
            <a:off x="822960" y="4014216"/>
            <a:ext cx="640080" cy="640080"/>
          </a:xfrm>
          <a:prstGeom prst="ellipse">
            <a:avLst/>
          </a:prstGeom>
          <a:solidFill>
            <a:srgbClr val="E8604C"/>
          </a:solidFill>
          <a:ln/>
        </p:spPr>
      </p:sp>
      <p:sp>
        <p:nvSpPr>
          <p:cNvPr id="12" name="Text 10"/>
          <p:cNvSpPr txBox="1"/>
          <p:nvPr/>
        </p:nvSpPr>
        <p:spPr>
          <a:xfrm>
            <a:off x="822960" y="4014216"/>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H2</a:t>
            </a:r>
            <a:endParaRPr lang="en-US" sz="1600" dirty="0"/>
          </a:p>
        </p:txBody>
      </p:sp>
      <p:sp>
        <p:nvSpPr>
          <p:cNvPr id="13" name="Text 11"/>
          <p:cNvSpPr txBox="1"/>
          <p:nvPr/>
        </p:nvSpPr>
        <p:spPr>
          <a:xfrm>
            <a:off x="1691640" y="3886200"/>
            <a:ext cx="9692640" cy="896112"/>
          </a:xfrm>
          <a:prstGeom prst="rect">
            <a:avLst/>
          </a:prstGeom>
          <a:noFill/>
          <a:ln/>
        </p:spPr>
        <p:txBody>
          <a:bodyPr wrap="square" lIns="0" tIns="0" rIns="0" bIns="0" rtlCol="0" anchor="ctr"/>
          <a:lstStyle/>
          <a:p>
            <a:pPr indent="0" marL="0">
              <a:buNone/>
            </a:pPr>
            <a:r>
              <a:rPr lang="en-US" sz="1450" dirty="0">
                <a:solidFill>
                  <a:srgbClr val="1B2A3A"/>
                </a:solidFill>
                <a:latin typeface="Calibri" pitchFamily="34" charset="0"/>
                <a:ea typeface="Calibri" pitchFamily="34" charset="-122"/>
                <a:cs typeface="Calibri" pitchFamily="34" charset="-120"/>
              </a:rPr>
              <a:t>Mechanizm urazu (kontaktowy vs. bezkontaktowy) wiąże się z rodzajem uszkodzonej tkanki.</a:t>
            </a:r>
            <a:endParaRPr lang="en-US" sz="1450" dirty="0"/>
          </a:p>
        </p:txBody>
      </p:sp>
      <p:sp>
        <p:nvSpPr>
          <p:cNvPr id="14" name="Shape 12"/>
          <p:cNvSpPr/>
          <p:nvPr/>
        </p:nvSpPr>
        <p:spPr>
          <a:xfrm>
            <a:off x="548640" y="4892040"/>
            <a:ext cx="11064240" cy="896112"/>
          </a:xfrm>
          <a:prstGeom prst="roundRect">
            <a:avLst>
              <a:gd name="adj" fmla="val 7143"/>
            </a:avLst>
          </a:prstGeom>
          <a:solidFill>
            <a:srgbClr val="FFFFFF"/>
          </a:solidFill>
          <a:ln/>
          <a:effectLst>
            <a:outerShdw sx="100000" sy="100000" kx="0" ky="0" algn="bl" rotWithShape="0" blurRad="50800" dist="19050" dir="5400000">
              <a:srgbClr val="8AA0B4">
                <a:alpha val="18000"/>
              </a:srgbClr>
            </a:outerShdw>
          </a:effectLst>
        </p:spPr>
      </p:sp>
      <p:sp>
        <p:nvSpPr>
          <p:cNvPr id="15" name="Shape 13"/>
          <p:cNvSpPr/>
          <p:nvPr/>
        </p:nvSpPr>
        <p:spPr>
          <a:xfrm>
            <a:off x="822960" y="5020056"/>
            <a:ext cx="640080" cy="640080"/>
          </a:xfrm>
          <a:prstGeom prst="ellipse">
            <a:avLst/>
          </a:prstGeom>
          <a:solidFill>
            <a:srgbClr val="E8604C"/>
          </a:solidFill>
          <a:ln/>
        </p:spPr>
      </p:sp>
      <p:sp>
        <p:nvSpPr>
          <p:cNvPr id="16" name="Text 14"/>
          <p:cNvSpPr txBox="1"/>
          <p:nvPr/>
        </p:nvSpPr>
        <p:spPr>
          <a:xfrm>
            <a:off x="822960" y="5020056"/>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H3</a:t>
            </a:r>
            <a:endParaRPr lang="en-US" sz="1600" dirty="0"/>
          </a:p>
        </p:txBody>
      </p:sp>
      <p:sp>
        <p:nvSpPr>
          <p:cNvPr id="17" name="Text 15"/>
          <p:cNvSpPr txBox="1"/>
          <p:nvPr/>
        </p:nvSpPr>
        <p:spPr>
          <a:xfrm>
            <a:off x="1691640" y="4892040"/>
            <a:ext cx="9692640" cy="896112"/>
          </a:xfrm>
          <a:prstGeom prst="rect">
            <a:avLst/>
          </a:prstGeom>
          <a:noFill/>
          <a:ln/>
        </p:spPr>
        <p:txBody>
          <a:bodyPr wrap="square" lIns="0" tIns="0" rIns="0" bIns="0" rtlCol="0" anchor="ctr"/>
          <a:lstStyle/>
          <a:p>
            <a:pPr indent="0" marL="0">
              <a:buNone/>
            </a:pPr>
            <a:r>
              <a:rPr lang="en-US" sz="1450" dirty="0">
                <a:solidFill>
                  <a:srgbClr val="1B2A3A"/>
                </a:solidFill>
                <a:latin typeface="Calibri" pitchFamily="34" charset="0"/>
                <a:ea typeface="Calibri" pitchFamily="34" charset="-122"/>
                <a:cs typeface="Calibri" pitchFamily="34" charset="-120"/>
              </a:rPr>
              <a:t>Testy funkcjonalne i etapowość powrotu wiążą się ze sprawnością i kinezjofobią.</a:t>
            </a:r>
            <a:endParaRPr lang="en-US" sz="1450" dirty="0"/>
          </a:p>
        </p:txBody>
      </p:sp>
      <p:sp>
        <p:nvSpPr>
          <p:cNvPr id="18" name="Shape 16"/>
          <p:cNvSpPr/>
          <p:nvPr/>
        </p:nvSpPr>
        <p:spPr>
          <a:xfrm>
            <a:off x="548640" y="5897880"/>
            <a:ext cx="11064240" cy="896112"/>
          </a:xfrm>
          <a:prstGeom prst="roundRect">
            <a:avLst>
              <a:gd name="adj" fmla="val 7143"/>
            </a:avLst>
          </a:prstGeom>
          <a:solidFill>
            <a:srgbClr val="FFFFFF"/>
          </a:solidFill>
          <a:ln/>
          <a:effectLst>
            <a:outerShdw sx="100000" sy="100000" kx="0" ky="0" algn="bl" rotWithShape="0" blurRad="50800" dist="19050" dir="5400000">
              <a:srgbClr val="8AA0B4">
                <a:alpha val="18000"/>
              </a:srgbClr>
            </a:outerShdw>
          </a:effectLst>
        </p:spPr>
      </p:sp>
      <p:sp>
        <p:nvSpPr>
          <p:cNvPr id="19" name="Shape 17"/>
          <p:cNvSpPr/>
          <p:nvPr/>
        </p:nvSpPr>
        <p:spPr>
          <a:xfrm>
            <a:off x="822960" y="6025896"/>
            <a:ext cx="640080" cy="640080"/>
          </a:xfrm>
          <a:prstGeom prst="ellipse">
            <a:avLst/>
          </a:prstGeom>
          <a:solidFill>
            <a:srgbClr val="E8604C"/>
          </a:solidFill>
          <a:ln/>
        </p:spPr>
      </p:sp>
      <p:sp>
        <p:nvSpPr>
          <p:cNvPr id="20" name="Text 18"/>
          <p:cNvSpPr txBox="1"/>
          <p:nvPr/>
        </p:nvSpPr>
        <p:spPr>
          <a:xfrm>
            <a:off x="822960" y="6025896"/>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H4</a:t>
            </a:r>
            <a:endParaRPr lang="en-US" sz="1600" dirty="0"/>
          </a:p>
        </p:txBody>
      </p:sp>
      <p:sp>
        <p:nvSpPr>
          <p:cNvPr id="21" name="Text 19"/>
          <p:cNvSpPr txBox="1"/>
          <p:nvPr/>
        </p:nvSpPr>
        <p:spPr>
          <a:xfrm>
            <a:off x="1691640" y="5897880"/>
            <a:ext cx="9692640" cy="896112"/>
          </a:xfrm>
          <a:prstGeom prst="rect">
            <a:avLst/>
          </a:prstGeom>
          <a:noFill/>
          <a:ln/>
        </p:spPr>
        <p:txBody>
          <a:bodyPr wrap="square" lIns="0" tIns="0" rIns="0" bIns="0" rtlCol="0" anchor="ctr"/>
          <a:lstStyle/>
          <a:p>
            <a:pPr indent="0" marL="0">
              <a:buNone/>
            </a:pPr>
            <a:r>
              <a:rPr lang="en-US" sz="1450" dirty="0">
                <a:solidFill>
                  <a:srgbClr val="1B2A3A"/>
                </a:solidFill>
                <a:latin typeface="Calibri" pitchFamily="34" charset="0"/>
                <a:ea typeface="Calibri" pitchFamily="34" charset="-122"/>
                <a:cs typeface="Calibri" pitchFamily="34" charset="-120"/>
              </a:rPr>
              <a:t>Stosowanie profilaktyki urazów wiąże się z mniejszą liczbą doznawanych urazów.</a:t>
            </a:r>
            <a:endParaRPr lang="en-US" sz="1450" dirty="0"/>
          </a:p>
        </p:txBody>
      </p:sp>
      <p:sp>
        <p:nvSpPr>
          <p:cNvPr id="22" name="Text 20"/>
          <p:cNvSpPr txBox="1"/>
          <p:nvPr/>
        </p:nvSpPr>
        <p:spPr>
          <a:xfrm>
            <a:off x="11368735" y="6355080"/>
            <a:ext cx="457200" cy="320040"/>
          </a:xfrm>
          <a:prstGeom prst="rect">
            <a:avLst/>
          </a:prstGeom>
          <a:noFill/>
          <a:ln/>
        </p:spPr>
        <p:txBody>
          <a:bodyPr wrap="square" lIns="0" tIns="0" rIns="0" bIns="0" rtlCol="0" anchor="ctr"/>
          <a:lstStyle/>
          <a:p>
            <a:pPr algn="r" indent="0" marL="0">
              <a:buNone/>
            </a:pPr>
            <a:r>
              <a:rPr lang="en-US" sz="1100" dirty="0">
                <a:solidFill>
                  <a:srgbClr val="5B6B7C"/>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A"/>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56032"/>
          </a:xfrm>
          <a:prstGeom prst="rect">
            <a:avLst/>
          </a:prstGeom>
          <a:noFill/>
          <a:ln/>
        </p:spPr>
        <p:txBody>
          <a:bodyPr wrap="square" lIns="0" tIns="0" rIns="0" bIns="0" rtlCol="0" anchor="t"/>
          <a:lstStyle/>
          <a:p>
            <a:pPr indent="0" marL="0">
              <a:buNone/>
            </a:pPr>
            <a:r>
              <a:rPr lang="en-US" sz="1300" b="1" spc="200" kern="0" dirty="0">
                <a:solidFill>
                  <a:srgbClr val="1E88A8"/>
                </a:solidFill>
                <a:latin typeface="Calibri" pitchFamily="34" charset="0"/>
                <a:ea typeface="Calibri" pitchFamily="34" charset="-122"/>
                <a:cs typeface="Calibri" pitchFamily="34" charset="-120"/>
              </a:rPr>
              <a:t>MATERIAŁ I METODYKA</a:t>
            </a:r>
            <a:endParaRPr lang="en-US" sz="1300" dirty="0"/>
          </a:p>
        </p:txBody>
      </p:sp>
      <p:sp>
        <p:nvSpPr>
          <p:cNvPr id="3" name="Text 1"/>
          <p:cNvSpPr txBox="1"/>
          <p:nvPr/>
        </p:nvSpPr>
        <p:spPr>
          <a:xfrm>
            <a:off x="548640" y="749808"/>
            <a:ext cx="11064240" cy="822960"/>
          </a:xfrm>
          <a:prstGeom prst="rect">
            <a:avLst/>
          </a:prstGeom>
          <a:noFill/>
          <a:ln/>
        </p:spPr>
        <p:txBody>
          <a:bodyPr wrap="square" lIns="0" tIns="0" rIns="0" bIns="0" rtlCol="0" anchor="ctr"/>
          <a:lstStyle/>
          <a:p>
            <a:pPr indent="0" marL="0">
              <a:buNone/>
            </a:pPr>
            <a:r>
              <a:rPr lang="en-US" sz="3200" b="1" dirty="0">
                <a:solidFill>
                  <a:srgbClr val="10263E"/>
                </a:solidFill>
                <a:latin typeface="Cambria" pitchFamily="34" charset="0"/>
                <a:ea typeface="Cambria" pitchFamily="34" charset="-122"/>
                <a:cs typeface="Cambria" pitchFamily="34" charset="-120"/>
              </a:rPr>
              <a:t>Grupa badawcza i narzędzia analizy</a:t>
            </a:r>
            <a:endParaRPr lang="en-US" sz="3200" dirty="0"/>
          </a:p>
        </p:txBody>
      </p:sp>
      <p:sp>
        <p:nvSpPr>
          <p:cNvPr id="4" name="Shape 2"/>
          <p:cNvSpPr/>
          <p:nvPr/>
        </p:nvSpPr>
        <p:spPr>
          <a:xfrm>
            <a:off x="548640" y="1737360"/>
            <a:ext cx="2514600" cy="1417320"/>
          </a:xfrm>
          <a:prstGeom prst="roundRect">
            <a:avLst>
              <a:gd name="adj" fmla="val 5161"/>
            </a:avLst>
          </a:prstGeom>
          <a:solidFill>
            <a:srgbClr val="FFFFFF"/>
          </a:solidFill>
          <a:ln/>
          <a:effectLst>
            <a:outerShdw sx="100000" sy="100000" kx="0" ky="0" algn="bl" rotWithShape="0" blurRad="76200" dist="25400" dir="5400000">
              <a:srgbClr val="8AA0B4">
                <a:alpha val="25000"/>
              </a:srgbClr>
            </a:outerShdw>
          </a:effectLst>
        </p:spPr>
      </p:sp>
      <p:sp>
        <p:nvSpPr>
          <p:cNvPr id="5" name="Text 3"/>
          <p:cNvSpPr txBox="1"/>
          <p:nvPr/>
        </p:nvSpPr>
        <p:spPr>
          <a:xfrm>
            <a:off x="685800" y="1847088"/>
            <a:ext cx="2240280" cy="850392"/>
          </a:xfrm>
          <a:prstGeom prst="rect">
            <a:avLst/>
          </a:prstGeom>
          <a:noFill/>
          <a:ln/>
        </p:spPr>
        <p:txBody>
          <a:bodyPr wrap="square" lIns="0" tIns="0" rIns="0" bIns="0" rtlCol="0" anchor="b"/>
          <a:lstStyle/>
          <a:p>
            <a:pPr algn="ctr" indent="0" marL="0">
              <a:buNone/>
            </a:pPr>
            <a:r>
              <a:rPr lang="en-US" sz="3000" b="1" dirty="0">
                <a:solidFill>
                  <a:srgbClr val="1E88A8"/>
                </a:solidFill>
                <a:latin typeface="Cambria" pitchFamily="34" charset="0"/>
                <a:ea typeface="Cambria" pitchFamily="34" charset="-122"/>
                <a:cs typeface="Cambria" pitchFamily="34" charset="-120"/>
              </a:rPr>
              <a:t>N = 78</a:t>
            </a:r>
            <a:endParaRPr lang="en-US" sz="3000" dirty="0"/>
          </a:p>
        </p:txBody>
      </p:sp>
      <p:sp>
        <p:nvSpPr>
          <p:cNvPr id="6" name="Text 4"/>
          <p:cNvSpPr txBox="1"/>
          <p:nvPr/>
        </p:nvSpPr>
        <p:spPr>
          <a:xfrm>
            <a:off x="658368" y="2697480"/>
            <a:ext cx="2295144" cy="384048"/>
          </a:xfrm>
          <a:prstGeom prst="rect">
            <a:avLst/>
          </a:prstGeom>
          <a:noFill/>
          <a:ln/>
        </p:spPr>
        <p:txBody>
          <a:bodyPr wrap="square" lIns="0" tIns="0" rIns="0" bIns="0" rtlCol="0" anchor="t"/>
          <a:lstStyle/>
          <a:p>
            <a:pPr algn="ctr" indent="0" marL="0">
              <a:buNone/>
            </a:pPr>
            <a:r>
              <a:rPr lang="en-US" sz="1050" dirty="0">
                <a:solidFill>
                  <a:srgbClr val="5B6B7C"/>
                </a:solidFill>
                <a:latin typeface="Calibri" pitchFamily="34" charset="0"/>
                <a:ea typeface="Calibri" pitchFamily="34" charset="-122"/>
                <a:cs typeface="Calibri" pitchFamily="34" charset="-120"/>
              </a:rPr>
              <a:t>czynnych zawodników</a:t>
            </a:r>
            <a:endParaRPr lang="en-US" sz="1050" dirty="0"/>
          </a:p>
        </p:txBody>
      </p:sp>
      <p:sp>
        <p:nvSpPr>
          <p:cNvPr id="7" name="Shape 5"/>
          <p:cNvSpPr/>
          <p:nvPr/>
        </p:nvSpPr>
        <p:spPr>
          <a:xfrm>
            <a:off x="3200400" y="1737360"/>
            <a:ext cx="2514600" cy="1417320"/>
          </a:xfrm>
          <a:prstGeom prst="roundRect">
            <a:avLst>
              <a:gd name="adj" fmla="val 5161"/>
            </a:avLst>
          </a:prstGeom>
          <a:solidFill>
            <a:srgbClr val="FFFFFF"/>
          </a:solidFill>
          <a:ln/>
          <a:effectLst>
            <a:outerShdw sx="100000" sy="100000" kx="0" ky="0" algn="bl" rotWithShape="0" blurRad="76200" dist="25400" dir="5400000">
              <a:srgbClr val="8AA0B4">
                <a:alpha val="25000"/>
              </a:srgbClr>
            </a:outerShdw>
          </a:effectLst>
        </p:spPr>
      </p:sp>
      <p:sp>
        <p:nvSpPr>
          <p:cNvPr id="8" name="Text 6"/>
          <p:cNvSpPr txBox="1"/>
          <p:nvPr/>
        </p:nvSpPr>
        <p:spPr>
          <a:xfrm>
            <a:off x="3337560" y="1847088"/>
            <a:ext cx="2240280" cy="850392"/>
          </a:xfrm>
          <a:prstGeom prst="rect">
            <a:avLst/>
          </a:prstGeom>
          <a:noFill/>
          <a:ln/>
        </p:spPr>
        <p:txBody>
          <a:bodyPr wrap="square" lIns="0" tIns="0" rIns="0" bIns="0" rtlCol="0" anchor="b"/>
          <a:lstStyle/>
          <a:p>
            <a:pPr algn="ctr" indent="0" marL="0">
              <a:buNone/>
            </a:pPr>
            <a:r>
              <a:rPr lang="en-US" sz="3000" b="1" dirty="0">
                <a:solidFill>
                  <a:srgbClr val="1E88A8"/>
                </a:solidFill>
                <a:latin typeface="Cambria" pitchFamily="34" charset="0"/>
                <a:ea typeface="Cambria" pitchFamily="34" charset="-122"/>
                <a:cs typeface="Cambria" pitchFamily="34" charset="-120"/>
              </a:rPr>
              <a:t>16–43</a:t>
            </a:r>
            <a:endParaRPr lang="en-US" sz="3000" dirty="0"/>
          </a:p>
        </p:txBody>
      </p:sp>
      <p:sp>
        <p:nvSpPr>
          <p:cNvPr id="9" name="Text 7"/>
          <p:cNvSpPr txBox="1"/>
          <p:nvPr/>
        </p:nvSpPr>
        <p:spPr>
          <a:xfrm>
            <a:off x="3310128" y="2697480"/>
            <a:ext cx="2295144" cy="384048"/>
          </a:xfrm>
          <a:prstGeom prst="rect">
            <a:avLst/>
          </a:prstGeom>
          <a:noFill/>
          <a:ln/>
        </p:spPr>
        <p:txBody>
          <a:bodyPr wrap="square" lIns="0" tIns="0" rIns="0" bIns="0" rtlCol="0" anchor="t"/>
          <a:lstStyle/>
          <a:p>
            <a:pPr algn="ctr" indent="0" marL="0">
              <a:buNone/>
            </a:pPr>
            <a:r>
              <a:rPr lang="en-US" sz="1050" dirty="0">
                <a:solidFill>
                  <a:srgbClr val="5B6B7C"/>
                </a:solidFill>
                <a:latin typeface="Calibri" pitchFamily="34" charset="0"/>
                <a:ea typeface="Calibri" pitchFamily="34" charset="-122"/>
                <a:cs typeface="Calibri" pitchFamily="34" charset="-120"/>
              </a:rPr>
              <a:t>lat (M = 24,6)</a:t>
            </a:r>
            <a:endParaRPr lang="en-US" sz="1050" dirty="0"/>
          </a:p>
        </p:txBody>
      </p:sp>
      <p:sp>
        <p:nvSpPr>
          <p:cNvPr id="10" name="Shape 8"/>
          <p:cNvSpPr/>
          <p:nvPr/>
        </p:nvSpPr>
        <p:spPr>
          <a:xfrm>
            <a:off x="5852160" y="1737360"/>
            <a:ext cx="2514600" cy="1417320"/>
          </a:xfrm>
          <a:prstGeom prst="roundRect">
            <a:avLst>
              <a:gd name="adj" fmla="val 5161"/>
            </a:avLst>
          </a:prstGeom>
          <a:solidFill>
            <a:srgbClr val="FFFFFF"/>
          </a:solidFill>
          <a:ln/>
          <a:effectLst>
            <a:outerShdw sx="100000" sy="100000" kx="0" ky="0" algn="bl" rotWithShape="0" blurRad="76200" dist="25400" dir="5400000">
              <a:srgbClr val="8AA0B4">
                <a:alpha val="25000"/>
              </a:srgbClr>
            </a:outerShdw>
          </a:effectLst>
        </p:spPr>
      </p:sp>
      <p:sp>
        <p:nvSpPr>
          <p:cNvPr id="11" name="Text 9"/>
          <p:cNvSpPr txBox="1"/>
          <p:nvPr/>
        </p:nvSpPr>
        <p:spPr>
          <a:xfrm>
            <a:off x="5989320" y="1847088"/>
            <a:ext cx="2240280" cy="850392"/>
          </a:xfrm>
          <a:prstGeom prst="rect">
            <a:avLst/>
          </a:prstGeom>
          <a:noFill/>
          <a:ln/>
        </p:spPr>
        <p:txBody>
          <a:bodyPr wrap="square" lIns="0" tIns="0" rIns="0" bIns="0" rtlCol="0" anchor="b"/>
          <a:lstStyle/>
          <a:p>
            <a:pPr algn="ctr" indent="0" marL="0">
              <a:buNone/>
            </a:pPr>
            <a:r>
              <a:rPr lang="en-US" sz="3000" b="1" dirty="0">
                <a:solidFill>
                  <a:srgbClr val="1E88A8"/>
                </a:solidFill>
                <a:latin typeface="Cambria" pitchFamily="34" charset="0"/>
                <a:ea typeface="Cambria" pitchFamily="34" charset="-122"/>
                <a:cs typeface="Cambria" pitchFamily="34" charset="-120"/>
              </a:rPr>
              <a:t>2–30</a:t>
            </a:r>
            <a:endParaRPr lang="en-US" sz="3000" dirty="0"/>
          </a:p>
        </p:txBody>
      </p:sp>
      <p:sp>
        <p:nvSpPr>
          <p:cNvPr id="12" name="Text 10"/>
          <p:cNvSpPr txBox="1"/>
          <p:nvPr/>
        </p:nvSpPr>
        <p:spPr>
          <a:xfrm>
            <a:off x="5961888" y="2697480"/>
            <a:ext cx="2295144" cy="384048"/>
          </a:xfrm>
          <a:prstGeom prst="rect">
            <a:avLst/>
          </a:prstGeom>
          <a:noFill/>
          <a:ln/>
        </p:spPr>
        <p:txBody>
          <a:bodyPr wrap="square" lIns="0" tIns="0" rIns="0" bIns="0" rtlCol="0" anchor="t"/>
          <a:lstStyle/>
          <a:p>
            <a:pPr algn="ctr" indent="0" marL="0">
              <a:buNone/>
            </a:pPr>
            <a:r>
              <a:rPr lang="en-US" sz="1050" dirty="0">
                <a:solidFill>
                  <a:srgbClr val="5B6B7C"/>
                </a:solidFill>
                <a:latin typeface="Calibri" pitchFamily="34" charset="0"/>
                <a:ea typeface="Calibri" pitchFamily="34" charset="-122"/>
                <a:cs typeface="Calibri" pitchFamily="34" charset="-120"/>
              </a:rPr>
              <a:t>lat stażu (M = 12,3)</a:t>
            </a:r>
            <a:endParaRPr lang="en-US" sz="1050" dirty="0"/>
          </a:p>
        </p:txBody>
      </p:sp>
      <p:sp>
        <p:nvSpPr>
          <p:cNvPr id="13" name="Shape 11"/>
          <p:cNvSpPr/>
          <p:nvPr/>
        </p:nvSpPr>
        <p:spPr>
          <a:xfrm>
            <a:off x="8503920" y="1737360"/>
            <a:ext cx="3136392" cy="1417320"/>
          </a:xfrm>
          <a:prstGeom prst="roundRect">
            <a:avLst>
              <a:gd name="adj" fmla="val 5161"/>
            </a:avLst>
          </a:prstGeom>
          <a:solidFill>
            <a:srgbClr val="FFFFFF"/>
          </a:solidFill>
          <a:ln/>
          <a:effectLst>
            <a:outerShdw sx="100000" sy="100000" kx="0" ky="0" algn="bl" rotWithShape="0" blurRad="76200" dist="25400" dir="5400000">
              <a:srgbClr val="8AA0B4">
                <a:alpha val="25000"/>
              </a:srgbClr>
            </a:outerShdw>
          </a:effectLst>
        </p:spPr>
      </p:sp>
      <p:sp>
        <p:nvSpPr>
          <p:cNvPr id="14" name="Text 12"/>
          <p:cNvSpPr txBox="1"/>
          <p:nvPr/>
        </p:nvSpPr>
        <p:spPr>
          <a:xfrm>
            <a:off x="8641080" y="1847088"/>
            <a:ext cx="2862072" cy="850392"/>
          </a:xfrm>
          <a:prstGeom prst="rect">
            <a:avLst/>
          </a:prstGeom>
          <a:noFill/>
          <a:ln/>
        </p:spPr>
        <p:txBody>
          <a:bodyPr wrap="square" lIns="0" tIns="0" rIns="0" bIns="0" rtlCol="0" anchor="b"/>
          <a:lstStyle/>
          <a:p>
            <a:pPr algn="ctr" indent="0" marL="0">
              <a:buNone/>
            </a:pPr>
            <a:r>
              <a:rPr lang="en-US" sz="3000" b="1" dirty="0">
                <a:solidFill>
                  <a:srgbClr val="E8604C"/>
                </a:solidFill>
                <a:latin typeface="Cambria" pitchFamily="34" charset="0"/>
                <a:ea typeface="Cambria" pitchFamily="34" charset="-122"/>
                <a:cs typeface="Cambria" pitchFamily="34" charset="-120"/>
              </a:rPr>
              <a:t>94,9%</a:t>
            </a:r>
            <a:endParaRPr lang="en-US" sz="3000" dirty="0"/>
          </a:p>
        </p:txBody>
      </p:sp>
      <p:sp>
        <p:nvSpPr>
          <p:cNvPr id="15" name="Text 13"/>
          <p:cNvSpPr txBox="1"/>
          <p:nvPr/>
        </p:nvSpPr>
        <p:spPr>
          <a:xfrm>
            <a:off x="8613648" y="2697480"/>
            <a:ext cx="2916936" cy="384048"/>
          </a:xfrm>
          <a:prstGeom prst="rect">
            <a:avLst/>
          </a:prstGeom>
          <a:noFill/>
          <a:ln/>
        </p:spPr>
        <p:txBody>
          <a:bodyPr wrap="square" lIns="0" tIns="0" rIns="0" bIns="0" rtlCol="0" anchor="t"/>
          <a:lstStyle/>
          <a:p>
            <a:pPr algn="ctr" indent="0" marL="0">
              <a:buNone/>
            </a:pPr>
            <a:r>
              <a:rPr lang="en-US" sz="1050" dirty="0">
                <a:solidFill>
                  <a:srgbClr val="5B6B7C"/>
                </a:solidFill>
                <a:latin typeface="Calibri" pitchFamily="34" charset="0"/>
                <a:ea typeface="Calibri" pitchFamily="34" charset="-122"/>
                <a:cs typeface="Calibri" pitchFamily="34" charset="-120"/>
              </a:rPr>
              <a:t>poziom amator./półprof.</a:t>
            </a:r>
            <a:endParaRPr lang="en-US" sz="1050" dirty="0"/>
          </a:p>
        </p:txBody>
      </p:sp>
      <p:sp>
        <p:nvSpPr>
          <p:cNvPr id="16" name="Shape 14"/>
          <p:cNvSpPr/>
          <p:nvPr/>
        </p:nvSpPr>
        <p:spPr>
          <a:xfrm>
            <a:off x="548640" y="3429000"/>
            <a:ext cx="5486400" cy="2697480"/>
          </a:xfrm>
          <a:prstGeom prst="roundRect">
            <a:avLst>
              <a:gd name="adj" fmla="val 2712"/>
            </a:avLst>
          </a:prstGeom>
          <a:solidFill>
            <a:srgbClr val="FFFFFF"/>
          </a:solidFill>
          <a:ln/>
          <a:effectLst>
            <a:outerShdw sx="100000" sy="100000" kx="0" ky="0" algn="bl" rotWithShape="0" blurRad="63500" dist="25400" dir="5400000">
              <a:srgbClr val="8AA0B4">
                <a:alpha val="20000"/>
              </a:srgbClr>
            </a:outerShdw>
          </a:effectLst>
        </p:spPr>
      </p:sp>
      <p:sp>
        <p:nvSpPr>
          <p:cNvPr id="17" name="Text 15"/>
          <p:cNvSpPr txBox="1"/>
          <p:nvPr/>
        </p:nvSpPr>
        <p:spPr>
          <a:xfrm>
            <a:off x="822960" y="3611880"/>
            <a:ext cx="4937760" cy="365760"/>
          </a:xfrm>
          <a:prstGeom prst="rect">
            <a:avLst/>
          </a:prstGeom>
          <a:noFill/>
          <a:ln/>
        </p:spPr>
        <p:txBody>
          <a:bodyPr wrap="square" lIns="0" tIns="0" rIns="0" bIns="0" rtlCol="0" anchor="ctr"/>
          <a:lstStyle/>
          <a:p>
            <a:pPr indent="0" marL="0">
              <a:buNone/>
            </a:pPr>
            <a:r>
              <a:rPr lang="en-US" sz="1500" b="1" dirty="0">
                <a:solidFill>
                  <a:srgbClr val="10263E"/>
                </a:solidFill>
                <a:latin typeface="Cambria" pitchFamily="34" charset="0"/>
                <a:ea typeface="Cambria" pitchFamily="34" charset="-122"/>
                <a:cs typeface="Cambria" pitchFamily="34" charset="-120"/>
              </a:rPr>
              <a:t>Narzędzie badawcze</a:t>
            </a:r>
            <a:endParaRPr lang="en-US" sz="1500" dirty="0"/>
          </a:p>
        </p:txBody>
      </p:sp>
      <p:sp>
        <p:nvSpPr>
          <p:cNvPr id="18" name="Text 16"/>
          <p:cNvSpPr txBox="1"/>
          <p:nvPr/>
        </p:nvSpPr>
        <p:spPr>
          <a:xfrm>
            <a:off x="822960" y="4023360"/>
            <a:ext cx="4937760" cy="2011680"/>
          </a:xfrm>
          <a:prstGeom prst="rect">
            <a:avLst/>
          </a:prstGeom>
          <a:noFill/>
          <a:ln/>
        </p:spPr>
        <p:txBody>
          <a:bodyPr wrap="square" lIns="0" tIns="0" rIns="0" bIns="0" rtlCol="0" anchor="t"/>
          <a:lstStyle/>
          <a:p>
            <a:pPr indent="0" marL="0">
              <a:spcAft>
                <a:spcPts val="600"/>
              </a:spcAft>
              <a:buNone/>
            </a:pPr>
            <a:r>
              <a:rPr lang="en-US" sz="1250" b="1" dirty="0">
                <a:solidFill>
                  <a:srgbClr val="1B2A3A"/>
                </a:solidFill>
                <a:latin typeface="Calibri" pitchFamily="34" charset="0"/>
                <a:ea typeface="Calibri" pitchFamily="34" charset="-122"/>
                <a:cs typeface="Calibri" pitchFamily="34" charset="-120"/>
              </a:rPr>
              <a:t>Autorska ankieta internetowa (Google Forms), 4 bloki tematyczne:</a:t>
            </a:r>
            <a:endParaRPr lang="en-US" sz="1250" dirty="0"/>
          </a:p>
          <a:p>
            <a:pPr marL="342900" indent="-342900">
              <a:spcAft>
                <a:spcPts val="400"/>
              </a:spcAft>
              <a:buSzPct val="100000"/>
              <a:buChar char="▪"/>
            </a:pPr>
            <a:r>
              <a:rPr lang="en-US" sz="1250" dirty="0">
                <a:solidFill>
                  <a:srgbClr val="5B6B7C"/>
                </a:solidFill>
                <a:latin typeface="Calibri" pitchFamily="34" charset="0"/>
                <a:ea typeface="Calibri" pitchFamily="34" charset="-122"/>
                <a:cs typeface="Calibri" pitchFamily="34" charset="-120"/>
              </a:rPr>
              <a:t>metryczka i dane epidemiologiczne</a:t>
            </a:r>
            <a:endParaRPr lang="en-US" sz="1250" dirty="0"/>
          </a:p>
          <a:p>
            <a:pPr marL="342900" indent="-342900">
              <a:spcAft>
                <a:spcPts val="400"/>
              </a:spcAft>
              <a:buSzPct val="100000"/>
              <a:buChar char="▪"/>
            </a:pPr>
            <a:r>
              <a:rPr lang="en-US" sz="1250" dirty="0">
                <a:solidFill>
                  <a:srgbClr val="5B6B7C"/>
                </a:solidFill>
                <a:latin typeface="Calibri" pitchFamily="34" charset="0"/>
                <a:ea typeface="Calibri" pitchFamily="34" charset="-122"/>
                <a:cs typeface="Calibri" pitchFamily="34" charset="-120"/>
              </a:rPr>
              <a:t>charakterystyka kliniczna urazu</a:t>
            </a:r>
            <a:endParaRPr lang="en-US" sz="1250" dirty="0"/>
          </a:p>
          <a:p>
            <a:pPr marL="342900" indent="-342900">
              <a:spcAft>
                <a:spcPts val="400"/>
              </a:spcAft>
              <a:buSzPct val="100000"/>
              <a:buChar char="▪"/>
            </a:pPr>
            <a:r>
              <a:rPr lang="en-US" sz="1250" dirty="0">
                <a:solidFill>
                  <a:srgbClr val="5B6B7C"/>
                </a:solidFill>
                <a:latin typeface="Calibri" pitchFamily="34" charset="0"/>
                <a:ea typeface="Calibri" pitchFamily="34" charset="-122"/>
                <a:cs typeface="Calibri" pitchFamily="34" charset="-120"/>
              </a:rPr>
              <a:t>proces rehabilitacji i powrotu do gry</a:t>
            </a:r>
            <a:endParaRPr lang="en-US" sz="1250" dirty="0"/>
          </a:p>
          <a:p>
            <a:pPr marL="342900" indent="-342900">
              <a:buSzPct val="100000"/>
              <a:buChar char="▪"/>
            </a:pPr>
            <a:r>
              <a:rPr lang="en-US" sz="1250" dirty="0">
                <a:solidFill>
                  <a:srgbClr val="5B6B7C"/>
                </a:solidFill>
                <a:latin typeface="Calibri" pitchFamily="34" charset="0"/>
                <a:ea typeface="Calibri" pitchFamily="34" charset="-122"/>
                <a:cs typeface="Calibri" pitchFamily="34" charset="-120"/>
              </a:rPr>
              <a:t>praktyka profilaktyczna i regeneracyjna</a:t>
            </a:r>
            <a:endParaRPr lang="en-US" sz="1250" dirty="0"/>
          </a:p>
        </p:txBody>
      </p:sp>
      <p:sp>
        <p:nvSpPr>
          <p:cNvPr id="19" name="Shape 17"/>
          <p:cNvSpPr/>
          <p:nvPr/>
        </p:nvSpPr>
        <p:spPr>
          <a:xfrm>
            <a:off x="6263640" y="3429000"/>
            <a:ext cx="5376672" cy="2697480"/>
          </a:xfrm>
          <a:prstGeom prst="roundRect">
            <a:avLst>
              <a:gd name="adj" fmla="val 2712"/>
            </a:avLst>
          </a:prstGeom>
          <a:solidFill>
            <a:srgbClr val="10263E"/>
          </a:solidFill>
          <a:ln/>
        </p:spPr>
      </p:sp>
      <p:sp>
        <p:nvSpPr>
          <p:cNvPr id="20" name="Text 18"/>
          <p:cNvSpPr txBox="1"/>
          <p:nvPr/>
        </p:nvSpPr>
        <p:spPr>
          <a:xfrm>
            <a:off x="6537960" y="3611880"/>
            <a:ext cx="484632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Analiza statystyczna</a:t>
            </a:r>
            <a:endParaRPr lang="en-US" sz="1500" dirty="0"/>
          </a:p>
        </p:txBody>
      </p:sp>
      <p:sp>
        <p:nvSpPr>
          <p:cNvPr id="21" name="Text 19"/>
          <p:cNvSpPr txBox="1"/>
          <p:nvPr/>
        </p:nvSpPr>
        <p:spPr>
          <a:xfrm>
            <a:off x="6537960" y="4023360"/>
            <a:ext cx="4846320" cy="2011680"/>
          </a:xfrm>
          <a:prstGeom prst="rect">
            <a:avLst/>
          </a:prstGeom>
          <a:noFill/>
          <a:ln/>
        </p:spPr>
        <p:txBody>
          <a:bodyPr wrap="square" lIns="0" tIns="0" rIns="0" bIns="0" rtlCol="0" anchor="t"/>
          <a:lstStyle/>
          <a:p>
            <a:pPr indent="0" marL="0">
              <a:spcAft>
                <a:spcPts val="800"/>
              </a:spcAft>
              <a:buNone/>
            </a:pPr>
            <a:r>
              <a:rPr lang="en-US" sz="1250" dirty="0">
                <a:solidFill>
                  <a:srgbClr val="CFE0EC"/>
                </a:solidFill>
                <a:latin typeface="Calibri" pitchFamily="34" charset="0"/>
                <a:ea typeface="Calibri" pitchFamily="34" charset="-122"/>
                <a:cs typeface="Calibri" pitchFamily="34" charset="-120"/>
              </a:rPr>
              <a:t>Python (pandas, SciPy), standard prezentacji Statistica / APA, α = 0,05</a:t>
            </a:r>
            <a:endParaRPr lang="en-US" sz="1250" dirty="0"/>
          </a:p>
          <a:p>
            <a:pPr marL="342900" indent="-342900">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test Shapiro-Wilka (normalność rozkładu)</a:t>
            </a:r>
            <a:endParaRPr lang="en-US" sz="1250" dirty="0"/>
          </a:p>
          <a:p>
            <a:pPr marL="342900" indent="-342900">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test U Manna-Whitneya</a:t>
            </a:r>
            <a:endParaRPr lang="en-US" sz="1250" dirty="0"/>
          </a:p>
          <a:p>
            <a:pPr marL="342900" indent="-342900">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korelacja rang Spearmana</a:t>
            </a:r>
            <a:endParaRPr lang="en-US" sz="1250" dirty="0"/>
          </a:p>
          <a:p>
            <a:pPr marL="342900" indent="-342900">
              <a:buSzPct val="100000"/>
              <a:buChar char="▪"/>
            </a:pPr>
            <a:r>
              <a:rPr lang="en-US" sz="1250" dirty="0">
                <a:solidFill>
                  <a:srgbClr val="FFFFFF"/>
                </a:solidFill>
                <a:latin typeface="Calibri" pitchFamily="34" charset="0"/>
                <a:ea typeface="Calibri" pitchFamily="34" charset="-122"/>
                <a:cs typeface="Calibri" pitchFamily="34" charset="-120"/>
              </a:rPr>
              <a:t>χ² Pearsona i Dokładny Test Fishera</a:t>
            </a:r>
            <a:endParaRPr lang="en-US" sz="1250" dirty="0"/>
          </a:p>
        </p:txBody>
      </p:sp>
      <p:sp>
        <p:nvSpPr>
          <p:cNvPr id="22" name="Text 20"/>
          <p:cNvSpPr txBox="1"/>
          <p:nvPr/>
        </p:nvSpPr>
        <p:spPr>
          <a:xfrm>
            <a:off x="11368735" y="6355080"/>
            <a:ext cx="457200" cy="320040"/>
          </a:xfrm>
          <a:prstGeom prst="rect">
            <a:avLst/>
          </a:prstGeom>
          <a:noFill/>
          <a:ln/>
        </p:spPr>
        <p:txBody>
          <a:bodyPr wrap="square" lIns="0" tIns="0" rIns="0" bIns="0" rtlCol="0" anchor="ctr"/>
          <a:lstStyle/>
          <a:p>
            <a:pPr algn="r" indent="0" marL="0">
              <a:buNone/>
            </a:pPr>
            <a:r>
              <a:rPr lang="en-US" sz="1100" dirty="0">
                <a:solidFill>
                  <a:srgbClr val="5B6B7C"/>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A"/>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56032"/>
          </a:xfrm>
          <a:prstGeom prst="rect">
            <a:avLst/>
          </a:prstGeom>
          <a:noFill/>
          <a:ln/>
        </p:spPr>
        <p:txBody>
          <a:bodyPr wrap="square" lIns="0" tIns="0" rIns="0" bIns="0" rtlCol="0" anchor="t"/>
          <a:lstStyle/>
          <a:p>
            <a:pPr indent="0" marL="0">
              <a:buNone/>
            </a:pPr>
            <a:r>
              <a:rPr lang="en-US" sz="1300" b="1" spc="200" kern="0" dirty="0">
                <a:solidFill>
                  <a:srgbClr val="1E88A8"/>
                </a:solidFill>
                <a:latin typeface="Calibri" pitchFamily="34" charset="0"/>
                <a:ea typeface="Calibri" pitchFamily="34" charset="-122"/>
                <a:cs typeface="Calibri" pitchFamily="34" charset="-120"/>
              </a:rPr>
              <a:t>WYNIKI I</a:t>
            </a:r>
            <a:endParaRPr lang="en-US" sz="1300" dirty="0"/>
          </a:p>
        </p:txBody>
      </p:sp>
      <p:sp>
        <p:nvSpPr>
          <p:cNvPr id="3" name="Text 1"/>
          <p:cNvSpPr txBox="1"/>
          <p:nvPr/>
        </p:nvSpPr>
        <p:spPr>
          <a:xfrm>
            <a:off x="548640" y="749808"/>
            <a:ext cx="11064240" cy="822960"/>
          </a:xfrm>
          <a:prstGeom prst="rect">
            <a:avLst/>
          </a:prstGeom>
          <a:noFill/>
          <a:ln/>
        </p:spPr>
        <p:txBody>
          <a:bodyPr wrap="square" lIns="0" tIns="0" rIns="0" bIns="0" rtlCol="0" anchor="ctr"/>
          <a:lstStyle/>
          <a:p>
            <a:pPr indent="0" marL="0">
              <a:buNone/>
            </a:pPr>
            <a:r>
              <a:rPr lang="en-US" sz="3200" b="1" dirty="0">
                <a:solidFill>
                  <a:srgbClr val="10263E"/>
                </a:solidFill>
                <a:latin typeface="Cambria" pitchFamily="34" charset="0"/>
                <a:ea typeface="Cambria" pitchFamily="34" charset="-122"/>
                <a:cs typeface="Cambria" pitchFamily="34" charset="-120"/>
              </a:rPr>
              <a:t>Epidemiologia i mechanizmy urazów</a:t>
            </a:r>
            <a:endParaRPr lang="en-US" sz="3200" dirty="0"/>
          </a:p>
        </p:txBody>
      </p:sp>
      <p:sp>
        <p:nvSpPr>
          <p:cNvPr id="4" name="Shape 2"/>
          <p:cNvSpPr/>
          <p:nvPr/>
        </p:nvSpPr>
        <p:spPr>
          <a:xfrm>
            <a:off x="548640" y="1737360"/>
            <a:ext cx="3383280" cy="1371600"/>
          </a:xfrm>
          <a:prstGeom prst="roundRect">
            <a:avLst>
              <a:gd name="adj" fmla="val 5333"/>
            </a:avLst>
          </a:prstGeom>
          <a:solidFill>
            <a:srgbClr val="FFFFFF"/>
          </a:solidFill>
          <a:ln/>
          <a:effectLst>
            <a:outerShdw sx="100000" sy="100000" kx="0" ky="0" algn="bl" rotWithShape="0" blurRad="76200" dist="25400" dir="5400000">
              <a:srgbClr val="8AA0B4">
                <a:alpha val="25000"/>
              </a:srgbClr>
            </a:outerShdw>
          </a:effectLst>
        </p:spPr>
      </p:sp>
      <p:sp>
        <p:nvSpPr>
          <p:cNvPr id="5" name="Text 3"/>
          <p:cNvSpPr txBox="1"/>
          <p:nvPr/>
        </p:nvSpPr>
        <p:spPr>
          <a:xfrm>
            <a:off x="685800" y="1847088"/>
            <a:ext cx="3108960" cy="804672"/>
          </a:xfrm>
          <a:prstGeom prst="rect">
            <a:avLst/>
          </a:prstGeom>
          <a:noFill/>
          <a:ln/>
        </p:spPr>
        <p:txBody>
          <a:bodyPr wrap="square" lIns="0" tIns="0" rIns="0" bIns="0" rtlCol="0" anchor="b"/>
          <a:lstStyle/>
          <a:p>
            <a:pPr algn="ctr" indent="0" marL="0">
              <a:buNone/>
            </a:pPr>
            <a:r>
              <a:rPr lang="en-US" sz="3400" b="1" dirty="0">
                <a:solidFill>
                  <a:srgbClr val="E8604C"/>
                </a:solidFill>
                <a:latin typeface="Cambria" pitchFamily="34" charset="0"/>
                <a:ea typeface="Cambria" pitchFamily="34" charset="-122"/>
                <a:cs typeface="Cambria" pitchFamily="34" charset="-120"/>
              </a:rPr>
              <a:t>71,8%</a:t>
            </a:r>
            <a:endParaRPr lang="en-US" sz="3400" dirty="0"/>
          </a:p>
        </p:txBody>
      </p:sp>
      <p:sp>
        <p:nvSpPr>
          <p:cNvPr id="6" name="Text 4"/>
          <p:cNvSpPr txBox="1"/>
          <p:nvPr/>
        </p:nvSpPr>
        <p:spPr>
          <a:xfrm>
            <a:off x="658368" y="2651760"/>
            <a:ext cx="3163824" cy="384048"/>
          </a:xfrm>
          <a:prstGeom prst="rect">
            <a:avLst/>
          </a:prstGeom>
          <a:noFill/>
          <a:ln/>
        </p:spPr>
        <p:txBody>
          <a:bodyPr wrap="square" lIns="0" tIns="0" rIns="0" bIns="0" rtlCol="0" anchor="t"/>
          <a:lstStyle/>
          <a:p>
            <a:pPr algn="ctr" indent="0" marL="0">
              <a:buNone/>
            </a:pPr>
            <a:r>
              <a:rPr lang="en-US" sz="1050" dirty="0">
                <a:solidFill>
                  <a:srgbClr val="5B6B7C"/>
                </a:solidFill>
                <a:latin typeface="Calibri" pitchFamily="34" charset="0"/>
                <a:ea typeface="Calibri" pitchFamily="34" charset="-122"/>
                <a:cs typeface="Calibri" pitchFamily="34" charset="-120"/>
              </a:rPr>
              <a:t>badanych doznało urazu (24 mies.)</a:t>
            </a:r>
            <a:endParaRPr lang="en-US" sz="1050" dirty="0"/>
          </a:p>
        </p:txBody>
      </p:sp>
      <p:sp>
        <p:nvSpPr>
          <p:cNvPr id="7" name="Shape 5"/>
          <p:cNvSpPr/>
          <p:nvPr/>
        </p:nvSpPr>
        <p:spPr>
          <a:xfrm>
            <a:off x="4069080" y="1737360"/>
            <a:ext cx="3383280" cy="1371600"/>
          </a:xfrm>
          <a:prstGeom prst="roundRect">
            <a:avLst>
              <a:gd name="adj" fmla="val 5333"/>
            </a:avLst>
          </a:prstGeom>
          <a:solidFill>
            <a:srgbClr val="FFFFFF"/>
          </a:solidFill>
          <a:ln/>
          <a:effectLst>
            <a:outerShdw sx="100000" sy="100000" kx="0" ky="0" algn="bl" rotWithShape="0" blurRad="76200" dist="25400" dir="5400000">
              <a:srgbClr val="8AA0B4">
                <a:alpha val="25000"/>
              </a:srgbClr>
            </a:outerShdw>
          </a:effectLst>
        </p:spPr>
      </p:sp>
      <p:sp>
        <p:nvSpPr>
          <p:cNvPr id="8" name="Text 6"/>
          <p:cNvSpPr txBox="1"/>
          <p:nvPr/>
        </p:nvSpPr>
        <p:spPr>
          <a:xfrm>
            <a:off x="4206240" y="1847088"/>
            <a:ext cx="3108960" cy="804672"/>
          </a:xfrm>
          <a:prstGeom prst="rect">
            <a:avLst/>
          </a:prstGeom>
          <a:noFill/>
          <a:ln/>
        </p:spPr>
        <p:txBody>
          <a:bodyPr wrap="square" lIns="0" tIns="0" rIns="0" bIns="0" rtlCol="0" anchor="b"/>
          <a:lstStyle/>
          <a:p>
            <a:pPr algn="ctr" indent="0" marL="0">
              <a:buNone/>
            </a:pPr>
            <a:r>
              <a:rPr lang="en-US" sz="2400" b="1" dirty="0">
                <a:solidFill>
                  <a:srgbClr val="1E88A8"/>
                </a:solidFill>
                <a:latin typeface="Cambria" pitchFamily="34" charset="0"/>
                <a:ea typeface="Cambria" pitchFamily="34" charset="-122"/>
                <a:cs typeface="Cambria" pitchFamily="34" charset="-120"/>
              </a:rPr>
              <a:t>50,0% / 50,0%</a:t>
            </a:r>
            <a:endParaRPr lang="en-US" sz="2400" dirty="0"/>
          </a:p>
        </p:txBody>
      </p:sp>
      <p:sp>
        <p:nvSpPr>
          <p:cNvPr id="9" name="Text 7"/>
          <p:cNvSpPr txBox="1"/>
          <p:nvPr/>
        </p:nvSpPr>
        <p:spPr>
          <a:xfrm>
            <a:off x="4178808" y="2651760"/>
            <a:ext cx="3163824" cy="384048"/>
          </a:xfrm>
          <a:prstGeom prst="rect">
            <a:avLst/>
          </a:prstGeom>
          <a:noFill/>
          <a:ln/>
        </p:spPr>
        <p:txBody>
          <a:bodyPr wrap="square" lIns="0" tIns="0" rIns="0" bIns="0" rtlCol="0" anchor="t"/>
          <a:lstStyle/>
          <a:p>
            <a:pPr algn="ctr" indent="0" marL="0">
              <a:buNone/>
            </a:pPr>
            <a:r>
              <a:rPr lang="en-US" sz="1050" dirty="0">
                <a:solidFill>
                  <a:srgbClr val="5B6B7C"/>
                </a:solidFill>
                <a:latin typeface="Calibri" pitchFamily="34" charset="0"/>
                <a:ea typeface="Calibri" pitchFamily="34" charset="-122"/>
                <a:cs typeface="Calibri" pitchFamily="34" charset="-120"/>
              </a:rPr>
              <a:t>urazów kontaktowych / bezkontaktowych</a:t>
            </a:r>
            <a:endParaRPr lang="en-US" sz="1050" dirty="0"/>
          </a:p>
        </p:txBody>
      </p:sp>
      <p:sp>
        <p:nvSpPr>
          <p:cNvPr id="10" name="Shape 8"/>
          <p:cNvSpPr/>
          <p:nvPr/>
        </p:nvSpPr>
        <p:spPr>
          <a:xfrm>
            <a:off x="7589520" y="1737360"/>
            <a:ext cx="4050792" cy="1371600"/>
          </a:xfrm>
          <a:prstGeom prst="roundRect">
            <a:avLst>
              <a:gd name="adj" fmla="val 5333"/>
            </a:avLst>
          </a:prstGeom>
          <a:solidFill>
            <a:srgbClr val="10263E"/>
          </a:solidFill>
          <a:ln/>
        </p:spPr>
      </p:sp>
      <p:sp>
        <p:nvSpPr>
          <p:cNvPr id="11" name="Text 9"/>
          <p:cNvSpPr txBox="1"/>
          <p:nvPr/>
        </p:nvSpPr>
        <p:spPr>
          <a:xfrm>
            <a:off x="7818120" y="1847088"/>
            <a:ext cx="3657600" cy="274320"/>
          </a:xfrm>
          <a:prstGeom prst="rect">
            <a:avLst/>
          </a:prstGeom>
          <a:noFill/>
          <a:ln/>
        </p:spPr>
        <p:txBody>
          <a:bodyPr wrap="square" lIns="0" tIns="0" rIns="0" bIns="0" rtlCol="0" anchor="ctr"/>
          <a:lstStyle/>
          <a:p>
            <a:pPr indent="0" marL="0">
              <a:buNone/>
            </a:pPr>
            <a:r>
              <a:rPr lang="en-US" sz="1100" b="1" dirty="0">
                <a:solidFill>
                  <a:srgbClr val="9FB4C7"/>
                </a:solidFill>
                <a:latin typeface="Calibri" pitchFamily="34" charset="0"/>
                <a:ea typeface="Calibri" pitchFamily="34" charset="-122"/>
                <a:cs typeface="Calibri" pitchFamily="34" charset="-120"/>
              </a:rPr>
              <a:t>Okoliczności urazu</a:t>
            </a:r>
            <a:endParaRPr lang="en-US" sz="1100" dirty="0"/>
          </a:p>
        </p:txBody>
      </p:sp>
      <p:sp>
        <p:nvSpPr>
          <p:cNvPr id="12" name="Text 10"/>
          <p:cNvSpPr txBox="1"/>
          <p:nvPr/>
        </p:nvSpPr>
        <p:spPr>
          <a:xfrm>
            <a:off x="7818120" y="2148840"/>
            <a:ext cx="3657600" cy="868680"/>
          </a:xfrm>
          <a:prstGeom prst="rect">
            <a:avLst/>
          </a:prstGeom>
          <a:noFill/>
          <a:ln/>
        </p:spPr>
        <p:txBody>
          <a:bodyPr wrap="square" lIns="0" tIns="0" rIns="0" bIns="0" rtlCol="0" anchor="ctr"/>
          <a:lstStyle/>
          <a:p>
            <a:pPr indent="0" marL="0">
              <a:lnSpc>
                <a:spcPct val="150000"/>
              </a:lnSpc>
              <a:buNone/>
            </a:pPr>
            <a:r>
              <a:rPr lang="en-US" sz="1500" dirty="0">
                <a:solidFill>
                  <a:srgbClr val="CFE0EC"/>
                </a:solidFill>
                <a:latin typeface="Calibri" pitchFamily="34" charset="0"/>
                <a:ea typeface="Calibri" pitchFamily="34" charset="-122"/>
                <a:cs typeface="Calibri" pitchFamily="34" charset="-120"/>
              </a:rPr>
              <a:t>Mecz    </a:t>
            </a:r>
            <a:pPr indent="0" marL="0">
              <a:lnSpc>
                <a:spcPct val="150000"/>
              </a:lnSpc>
              <a:buNone/>
            </a:pPr>
            <a:r>
              <a:rPr lang="en-US" sz="1500" b="1" dirty="0">
                <a:solidFill>
                  <a:srgbClr val="FFFFFF"/>
                </a:solidFill>
                <a:latin typeface="Calibri" pitchFamily="34" charset="0"/>
                <a:ea typeface="Calibri" pitchFamily="34" charset="-122"/>
                <a:cs typeface="Calibri" pitchFamily="34" charset="-120"/>
              </a:rPr>
              <a:t>62,5%
</a:t>
            </a:r>
            <a:pPr indent="0" marL="0">
              <a:lnSpc>
                <a:spcPct val="150000"/>
              </a:lnSpc>
              <a:buNone/>
            </a:pPr>
            <a:r>
              <a:rPr lang="en-US" sz="1500" dirty="0">
                <a:solidFill>
                  <a:srgbClr val="CFE0EC"/>
                </a:solidFill>
                <a:latin typeface="Calibri" pitchFamily="34" charset="0"/>
                <a:ea typeface="Calibri" pitchFamily="34" charset="-122"/>
                <a:cs typeface="Calibri" pitchFamily="34" charset="-120"/>
              </a:rPr>
              <a:t>Trening  </a:t>
            </a:r>
            <a:pPr indent="0" marL="0">
              <a:lnSpc>
                <a:spcPct val="150000"/>
              </a:lnSpc>
              <a:buNone/>
            </a:pPr>
            <a:r>
              <a:rPr lang="en-US" sz="1500" b="1" dirty="0">
                <a:solidFill>
                  <a:srgbClr val="FFFFFF"/>
                </a:solidFill>
                <a:latin typeface="Calibri" pitchFamily="34" charset="0"/>
                <a:ea typeface="Calibri" pitchFamily="34" charset="-122"/>
                <a:cs typeface="Calibri" pitchFamily="34" charset="-120"/>
              </a:rPr>
              <a:t>37,5%</a:t>
            </a:r>
            <a:endParaRPr lang="en-US" sz="1500" dirty="0"/>
          </a:p>
        </p:txBody>
      </p:sp>
      <p:sp>
        <p:nvSpPr>
          <p:cNvPr id="13" name="Text 11"/>
          <p:cNvSpPr txBox="1"/>
          <p:nvPr/>
        </p:nvSpPr>
        <p:spPr>
          <a:xfrm>
            <a:off x="548640" y="3337560"/>
            <a:ext cx="7315200" cy="320040"/>
          </a:xfrm>
          <a:prstGeom prst="rect">
            <a:avLst/>
          </a:prstGeom>
          <a:noFill/>
          <a:ln/>
        </p:spPr>
        <p:txBody>
          <a:bodyPr wrap="square" lIns="0" tIns="0" rIns="0" bIns="0" rtlCol="0" anchor="ctr"/>
          <a:lstStyle/>
          <a:p>
            <a:pPr indent="0" marL="0">
              <a:buNone/>
            </a:pPr>
            <a:r>
              <a:rPr lang="en-US" sz="1250" i="1" dirty="0">
                <a:solidFill>
                  <a:srgbClr val="5B6B7C"/>
                </a:solidFill>
                <a:latin typeface="Calibri" pitchFamily="34" charset="0"/>
                <a:ea typeface="Calibri" pitchFamily="34" charset="-122"/>
                <a:cs typeface="Calibri" pitchFamily="34" charset="-120"/>
              </a:rPr>
              <a:t>Lokalizacja urazu (n = 56, pytanie wielokrotnego wyboru)</a:t>
            </a:r>
            <a:endParaRPr lang="en-US" sz="1250" dirty="0"/>
          </a:p>
        </p:txBody>
      </p:sp>
      <p:graphicFrame>
        <p:nvGraphicFramePr>
          <p:cNvPr id="14" name="Chart 0" descr=""/>
          <p:cNvGraphicFramePr/>
          <p:nvPr/>
        </p:nvGraphicFramePr>
        <p:xfrm>
          <a:off x="457200" y="3657600"/>
          <a:ext cx="6949440" cy="2834640"/>
        </p:xfrm>
        <a:graphic xmlns:a="http://schemas.openxmlformats.org/drawingml/2006/main">
          <a:graphicData uri="http://schemas.openxmlformats.org/drawingml/2006/chart">
            <c:chart xmlns:c="http://schemas.openxmlformats.org/drawingml/2006/chart" r:id="rId1"/>
          </a:graphicData>
        </a:graphic>
      </p:graphicFrame>
      <p:sp>
        <p:nvSpPr>
          <p:cNvPr id="15" name="Shape 12"/>
          <p:cNvSpPr/>
          <p:nvPr/>
        </p:nvSpPr>
        <p:spPr>
          <a:xfrm>
            <a:off x="7680960" y="3657600"/>
            <a:ext cx="3959352" cy="2834640"/>
          </a:xfrm>
          <a:prstGeom prst="roundRect">
            <a:avLst>
              <a:gd name="adj" fmla="val 2581"/>
            </a:avLst>
          </a:prstGeom>
          <a:solidFill>
            <a:srgbClr val="FFFFFF"/>
          </a:solidFill>
          <a:ln/>
          <a:effectLst>
            <a:outerShdw sx="100000" sy="100000" kx="0" ky="0" algn="bl" rotWithShape="0" blurRad="63500" dist="25400" dir="5400000">
              <a:srgbClr val="8AA0B4">
                <a:alpha val="20000"/>
              </a:srgbClr>
            </a:outerShdw>
          </a:effectLst>
        </p:spPr>
      </p:sp>
      <p:sp>
        <p:nvSpPr>
          <p:cNvPr id="16" name="Text 13"/>
          <p:cNvSpPr txBox="1"/>
          <p:nvPr/>
        </p:nvSpPr>
        <p:spPr>
          <a:xfrm>
            <a:off x="7909560" y="3840480"/>
            <a:ext cx="3566160" cy="320040"/>
          </a:xfrm>
          <a:prstGeom prst="rect">
            <a:avLst/>
          </a:prstGeom>
          <a:noFill/>
          <a:ln/>
        </p:spPr>
        <p:txBody>
          <a:bodyPr wrap="square" lIns="0" tIns="0" rIns="0" bIns="0" rtlCol="0" anchor="ctr"/>
          <a:lstStyle/>
          <a:p>
            <a:pPr indent="0" marL="0">
              <a:buNone/>
            </a:pPr>
            <a:r>
              <a:rPr lang="en-US" sz="1350" b="1" dirty="0">
                <a:solidFill>
                  <a:srgbClr val="10263E"/>
                </a:solidFill>
                <a:latin typeface="Cambria" pitchFamily="34" charset="0"/>
                <a:ea typeface="Cambria" pitchFamily="34" charset="-122"/>
                <a:cs typeface="Cambria" pitchFamily="34" charset="-120"/>
              </a:rPr>
              <a:t>Liczba przebytych urazów</a:t>
            </a:r>
            <a:endParaRPr lang="en-US" sz="1350" dirty="0"/>
          </a:p>
        </p:txBody>
      </p:sp>
      <p:sp>
        <p:nvSpPr>
          <p:cNvPr id="17" name="Text 14"/>
          <p:cNvSpPr txBox="1"/>
          <p:nvPr/>
        </p:nvSpPr>
        <p:spPr>
          <a:xfrm>
            <a:off x="7909560" y="4251960"/>
            <a:ext cx="3566160" cy="2011680"/>
          </a:xfrm>
          <a:prstGeom prst="rect">
            <a:avLst/>
          </a:prstGeom>
          <a:noFill/>
          <a:ln/>
        </p:spPr>
        <p:txBody>
          <a:bodyPr wrap="square" lIns="0" tIns="0" rIns="0" bIns="0" rtlCol="0" anchor="ctr"/>
          <a:lstStyle/>
          <a:p>
            <a:pPr indent="0" marL="0">
              <a:lnSpc>
                <a:spcPct val="170000"/>
              </a:lnSpc>
              <a:buNone/>
            </a:pPr>
            <a:r>
              <a:rPr lang="en-US" sz="1350" dirty="0">
                <a:solidFill>
                  <a:srgbClr val="5B6B7C"/>
                </a:solidFill>
                <a:latin typeface="Calibri" pitchFamily="34" charset="0"/>
                <a:ea typeface="Calibri" pitchFamily="34" charset="-122"/>
                <a:cs typeface="Calibri" pitchFamily="34" charset="-120"/>
              </a:rPr>
              <a:t>Jedna kontuzja      </a:t>
            </a:r>
            <a:pPr indent="0" marL="0">
              <a:lnSpc>
                <a:spcPct val="170000"/>
              </a:lnSpc>
              <a:buNone/>
            </a:pPr>
            <a:r>
              <a:rPr lang="en-US" sz="1350" b="1" dirty="0">
                <a:solidFill>
                  <a:srgbClr val="10263E"/>
                </a:solidFill>
                <a:latin typeface="Calibri" pitchFamily="34" charset="0"/>
                <a:ea typeface="Calibri" pitchFamily="34" charset="-122"/>
                <a:cs typeface="Calibri" pitchFamily="34" charset="-120"/>
              </a:rPr>
              <a:t>33,9%
</a:t>
            </a:r>
            <a:pPr indent="0" marL="0">
              <a:lnSpc>
                <a:spcPct val="170000"/>
              </a:lnSpc>
              <a:buNone/>
            </a:pPr>
            <a:r>
              <a:rPr lang="en-US" sz="1350" dirty="0">
                <a:solidFill>
                  <a:srgbClr val="5B6B7C"/>
                </a:solidFill>
                <a:latin typeface="Calibri" pitchFamily="34" charset="0"/>
                <a:ea typeface="Calibri" pitchFamily="34" charset="-122"/>
                <a:cs typeface="Calibri" pitchFamily="34" charset="-120"/>
              </a:rPr>
              <a:t>Dwie kontuzje       </a:t>
            </a:r>
            <a:pPr indent="0" marL="0">
              <a:lnSpc>
                <a:spcPct val="170000"/>
              </a:lnSpc>
              <a:buNone/>
            </a:pPr>
            <a:r>
              <a:rPr lang="en-US" sz="1350" b="1" dirty="0">
                <a:solidFill>
                  <a:srgbClr val="10263E"/>
                </a:solidFill>
                <a:latin typeface="Calibri" pitchFamily="34" charset="0"/>
                <a:ea typeface="Calibri" pitchFamily="34" charset="-122"/>
                <a:cs typeface="Calibri" pitchFamily="34" charset="-120"/>
              </a:rPr>
              <a:t>41,1%
</a:t>
            </a:r>
            <a:pPr indent="0" marL="0">
              <a:lnSpc>
                <a:spcPct val="170000"/>
              </a:lnSpc>
              <a:buNone/>
            </a:pPr>
            <a:r>
              <a:rPr lang="en-US" sz="1350" dirty="0">
                <a:solidFill>
                  <a:srgbClr val="5B6B7C"/>
                </a:solidFill>
                <a:latin typeface="Calibri" pitchFamily="34" charset="0"/>
                <a:ea typeface="Calibri" pitchFamily="34" charset="-122"/>
                <a:cs typeface="Calibri" pitchFamily="34" charset="-120"/>
              </a:rPr>
              <a:t>Cztery i więcej   </a:t>
            </a:r>
            <a:pPr indent="0" marL="0">
              <a:lnSpc>
                <a:spcPct val="170000"/>
              </a:lnSpc>
              <a:buNone/>
            </a:pPr>
            <a:r>
              <a:rPr lang="en-US" sz="1350" b="1" dirty="0">
                <a:solidFill>
                  <a:srgbClr val="E8604C"/>
                </a:solidFill>
                <a:latin typeface="Calibri" pitchFamily="34" charset="0"/>
                <a:ea typeface="Calibri" pitchFamily="34" charset="-122"/>
                <a:cs typeface="Calibri" pitchFamily="34" charset="-120"/>
              </a:rPr>
              <a:t>10,7%</a:t>
            </a:r>
            <a:endParaRPr lang="en-US" sz="1350" dirty="0"/>
          </a:p>
        </p:txBody>
      </p:sp>
      <p:sp>
        <p:nvSpPr>
          <p:cNvPr id="18" name="Text 15"/>
          <p:cNvSpPr txBox="1"/>
          <p:nvPr/>
        </p:nvSpPr>
        <p:spPr>
          <a:xfrm>
            <a:off x="11368735" y="6355080"/>
            <a:ext cx="457200" cy="320040"/>
          </a:xfrm>
          <a:prstGeom prst="rect">
            <a:avLst/>
          </a:prstGeom>
          <a:noFill/>
          <a:ln/>
        </p:spPr>
        <p:txBody>
          <a:bodyPr wrap="square" lIns="0" tIns="0" rIns="0" bIns="0" rtlCol="0" anchor="ctr"/>
          <a:lstStyle/>
          <a:p>
            <a:pPr algn="r" indent="0" marL="0">
              <a:buNone/>
            </a:pPr>
            <a:r>
              <a:rPr lang="en-US" sz="1100" dirty="0">
                <a:solidFill>
                  <a:srgbClr val="5B6B7C"/>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A"/>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56032"/>
          </a:xfrm>
          <a:prstGeom prst="rect">
            <a:avLst/>
          </a:prstGeom>
          <a:noFill/>
          <a:ln/>
        </p:spPr>
        <p:txBody>
          <a:bodyPr wrap="square" lIns="0" tIns="0" rIns="0" bIns="0" rtlCol="0" anchor="t"/>
          <a:lstStyle/>
          <a:p>
            <a:pPr indent="0" marL="0">
              <a:buNone/>
            </a:pPr>
            <a:r>
              <a:rPr lang="en-US" sz="1300" b="1" spc="200" kern="0" dirty="0">
                <a:solidFill>
                  <a:srgbClr val="1E88A8"/>
                </a:solidFill>
                <a:latin typeface="Calibri" pitchFamily="34" charset="0"/>
                <a:ea typeface="Calibri" pitchFamily="34" charset="-122"/>
                <a:cs typeface="Calibri" pitchFamily="34" charset="-120"/>
              </a:rPr>
              <a:t>WYNIKI II</a:t>
            </a:r>
            <a:endParaRPr lang="en-US" sz="1300" dirty="0"/>
          </a:p>
        </p:txBody>
      </p:sp>
      <p:sp>
        <p:nvSpPr>
          <p:cNvPr id="3" name="Text 1"/>
          <p:cNvSpPr txBox="1"/>
          <p:nvPr/>
        </p:nvSpPr>
        <p:spPr>
          <a:xfrm>
            <a:off x="548640" y="749808"/>
            <a:ext cx="11064240" cy="822960"/>
          </a:xfrm>
          <a:prstGeom prst="rect">
            <a:avLst/>
          </a:prstGeom>
          <a:noFill/>
          <a:ln/>
        </p:spPr>
        <p:txBody>
          <a:bodyPr wrap="square" lIns="0" tIns="0" rIns="0" bIns="0" rtlCol="0" anchor="ctr"/>
          <a:lstStyle/>
          <a:p>
            <a:pPr indent="0" marL="0">
              <a:buNone/>
            </a:pPr>
            <a:r>
              <a:rPr lang="en-US" sz="3200" b="1" dirty="0">
                <a:solidFill>
                  <a:srgbClr val="10263E"/>
                </a:solidFill>
                <a:latin typeface="Cambria" pitchFamily="34" charset="0"/>
                <a:ea typeface="Cambria" pitchFamily="34" charset="-122"/>
                <a:cs typeface="Cambria" pitchFamily="34" charset="-120"/>
              </a:rPr>
              <a:t>Weryfikacja hipotez H1 i H2</a:t>
            </a:r>
            <a:endParaRPr lang="en-US" sz="3200" dirty="0"/>
          </a:p>
        </p:txBody>
      </p:sp>
      <p:sp>
        <p:nvSpPr>
          <p:cNvPr id="4" name="Shape 2"/>
          <p:cNvSpPr/>
          <p:nvPr/>
        </p:nvSpPr>
        <p:spPr>
          <a:xfrm>
            <a:off x="548640" y="1737360"/>
            <a:ext cx="5394960" cy="4480560"/>
          </a:xfrm>
          <a:prstGeom prst="roundRect">
            <a:avLst>
              <a:gd name="adj" fmla="val 1633"/>
            </a:avLst>
          </a:prstGeom>
          <a:solidFill>
            <a:srgbClr val="FFFFFF"/>
          </a:solidFill>
          <a:ln/>
          <a:effectLst>
            <a:outerShdw sx="100000" sy="100000" kx="0" ky="0" algn="bl" rotWithShape="0" blurRad="63500" dist="25400" dir="5400000">
              <a:srgbClr val="8AA0B4">
                <a:alpha val="20000"/>
              </a:srgbClr>
            </a:outerShdw>
          </a:effectLst>
        </p:spPr>
      </p:sp>
      <p:sp>
        <p:nvSpPr>
          <p:cNvPr id="5" name="Shape 3"/>
          <p:cNvSpPr/>
          <p:nvPr/>
        </p:nvSpPr>
        <p:spPr>
          <a:xfrm>
            <a:off x="868680" y="1965960"/>
            <a:ext cx="594360" cy="594360"/>
          </a:xfrm>
          <a:prstGeom prst="ellipse">
            <a:avLst/>
          </a:prstGeom>
          <a:solidFill>
            <a:srgbClr val="1E88A8"/>
          </a:solidFill>
          <a:ln/>
        </p:spPr>
      </p:sp>
      <p:sp>
        <p:nvSpPr>
          <p:cNvPr id="6" name="Text 4"/>
          <p:cNvSpPr txBox="1"/>
          <p:nvPr/>
        </p:nvSpPr>
        <p:spPr>
          <a:xfrm>
            <a:off x="868680" y="196596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H1</a:t>
            </a:r>
            <a:endParaRPr lang="en-US" sz="1500" dirty="0"/>
          </a:p>
        </p:txBody>
      </p:sp>
      <p:sp>
        <p:nvSpPr>
          <p:cNvPr id="7" name="Text 5"/>
          <p:cNvSpPr txBox="1"/>
          <p:nvPr/>
        </p:nvSpPr>
        <p:spPr>
          <a:xfrm>
            <a:off x="1645920" y="1965960"/>
            <a:ext cx="4114800" cy="594360"/>
          </a:xfrm>
          <a:prstGeom prst="rect">
            <a:avLst/>
          </a:prstGeom>
          <a:noFill/>
          <a:ln/>
        </p:spPr>
        <p:txBody>
          <a:bodyPr wrap="square" lIns="0" tIns="0" rIns="0" bIns="0" rtlCol="0" anchor="ctr"/>
          <a:lstStyle/>
          <a:p>
            <a:pPr indent="0" marL="0">
              <a:buNone/>
            </a:pPr>
            <a:r>
              <a:rPr lang="en-US" sz="1500" b="1" dirty="0">
                <a:solidFill>
                  <a:srgbClr val="10263E"/>
                </a:solidFill>
                <a:latin typeface="Cambria" pitchFamily="34" charset="0"/>
                <a:ea typeface="Cambria" pitchFamily="34" charset="-122"/>
                <a:cs typeface="Cambria" pitchFamily="34" charset="-120"/>
              </a:rPr>
              <a:t>Staż, wiek i poziom rozgrywkowy</a:t>
            </a:r>
            <a:endParaRPr lang="en-US" sz="1500" dirty="0"/>
          </a:p>
        </p:txBody>
      </p:sp>
      <p:sp>
        <p:nvSpPr>
          <p:cNvPr id="8" name="Text 6"/>
          <p:cNvSpPr txBox="1"/>
          <p:nvPr/>
        </p:nvSpPr>
        <p:spPr>
          <a:xfrm>
            <a:off x="868680" y="2788920"/>
            <a:ext cx="2286000" cy="457200"/>
          </a:xfrm>
          <a:prstGeom prst="rect">
            <a:avLst/>
          </a:prstGeom>
          <a:noFill/>
          <a:ln/>
        </p:spPr>
        <p:txBody>
          <a:bodyPr wrap="square" lIns="0" tIns="0" rIns="0" bIns="0" rtlCol="0" anchor="ctr"/>
          <a:lstStyle/>
          <a:p>
            <a:pPr indent="0" marL="0">
              <a:buNone/>
            </a:pPr>
            <a:r>
              <a:rPr lang="en-US" sz="1250" dirty="0">
                <a:solidFill>
                  <a:srgbClr val="1B2A3A"/>
                </a:solidFill>
                <a:latin typeface="Calibri" pitchFamily="34" charset="0"/>
                <a:ea typeface="Calibri" pitchFamily="34" charset="-122"/>
                <a:cs typeface="Calibri" pitchFamily="34" charset="-120"/>
              </a:rPr>
              <a:t>Staż zawodniczy</a:t>
            </a:r>
            <a:endParaRPr lang="en-US" sz="1250" dirty="0"/>
          </a:p>
        </p:txBody>
      </p:sp>
      <p:sp>
        <p:nvSpPr>
          <p:cNvPr id="9" name="Text 7"/>
          <p:cNvSpPr txBox="1"/>
          <p:nvPr/>
        </p:nvSpPr>
        <p:spPr>
          <a:xfrm>
            <a:off x="3108960" y="2788920"/>
            <a:ext cx="1463040" cy="457200"/>
          </a:xfrm>
          <a:prstGeom prst="rect">
            <a:avLst/>
          </a:prstGeom>
          <a:noFill/>
          <a:ln/>
        </p:spPr>
        <p:txBody>
          <a:bodyPr wrap="square" lIns="0" tIns="0" rIns="0" bIns="0" rtlCol="0" anchor="ctr"/>
          <a:lstStyle/>
          <a:p>
            <a:pPr indent="0" marL="0">
              <a:buNone/>
            </a:pPr>
            <a:r>
              <a:rPr lang="en-US" sz="1100" dirty="0">
                <a:solidFill>
                  <a:srgbClr val="5B6B7C"/>
                </a:solidFill>
                <a:latin typeface="Calibri" pitchFamily="34" charset="0"/>
                <a:ea typeface="Calibri" pitchFamily="34" charset="-122"/>
                <a:cs typeface="Calibri" pitchFamily="34" charset="-120"/>
              </a:rPr>
              <a:t>Me=10 vs Me=14 lat</a:t>
            </a:r>
            <a:endParaRPr lang="en-US" sz="1100" dirty="0"/>
          </a:p>
        </p:txBody>
      </p:sp>
      <p:sp>
        <p:nvSpPr>
          <p:cNvPr id="10" name="Text 8"/>
          <p:cNvSpPr txBox="1"/>
          <p:nvPr/>
        </p:nvSpPr>
        <p:spPr>
          <a:xfrm>
            <a:off x="4572000" y="2788920"/>
            <a:ext cx="1234440" cy="457200"/>
          </a:xfrm>
          <a:prstGeom prst="rect">
            <a:avLst/>
          </a:prstGeom>
          <a:noFill/>
          <a:ln/>
        </p:spPr>
        <p:txBody>
          <a:bodyPr wrap="square" lIns="0" tIns="0" rIns="0" bIns="0" rtlCol="0" anchor="ctr"/>
          <a:lstStyle/>
          <a:p>
            <a:pPr algn="r" indent="0" marL="0">
              <a:buNone/>
            </a:pPr>
            <a:r>
              <a:rPr lang="en-US" sz="1250" b="1" dirty="0">
                <a:solidFill>
                  <a:srgbClr val="E8604C"/>
                </a:solidFill>
                <a:latin typeface="Calibri" pitchFamily="34" charset="0"/>
                <a:ea typeface="Calibri" pitchFamily="34" charset="-122"/>
                <a:cs typeface="Calibri" pitchFamily="34" charset="-120"/>
              </a:rPr>
              <a:t>p = 0,039</a:t>
            </a:r>
            <a:endParaRPr lang="en-US" sz="1250" dirty="0"/>
          </a:p>
        </p:txBody>
      </p:sp>
      <p:sp>
        <p:nvSpPr>
          <p:cNvPr id="11" name="Text 9"/>
          <p:cNvSpPr txBox="1"/>
          <p:nvPr/>
        </p:nvSpPr>
        <p:spPr>
          <a:xfrm>
            <a:off x="868680" y="3355848"/>
            <a:ext cx="2286000" cy="457200"/>
          </a:xfrm>
          <a:prstGeom prst="rect">
            <a:avLst/>
          </a:prstGeom>
          <a:noFill/>
          <a:ln/>
        </p:spPr>
        <p:txBody>
          <a:bodyPr wrap="square" lIns="0" tIns="0" rIns="0" bIns="0" rtlCol="0" anchor="ctr"/>
          <a:lstStyle/>
          <a:p>
            <a:pPr indent="0" marL="0">
              <a:buNone/>
            </a:pPr>
            <a:r>
              <a:rPr lang="en-US" sz="1250" dirty="0">
                <a:solidFill>
                  <a:srgbClr val="1B2A3A"/>
                </a:solidFill>
                <a:latin typeface="Calibri" pitchFamily="34" charset="0"/>
                <a:ea typeface="Calibri" pitchFamily="34" charset="-122"/>
                <a:cs typeface="Calibri" pitchFamily="34" charset="-120"/>
              </a:rPr>
              <a:t>Wiek</a:t>
            </a:r>
            <a:endParaRPr lang="en-US" sz="1250" dirty="0"/>
          </a:p>
        </p:txBody>
      </p:sp>
      <p:sp>
        <p:nvSpPr>
          <p:cNvPr id="12" name="Text 10"/>
          <p:cNvSpPr txBox="1"/>
          <p:nvPr/>
        </p:nvSpPr>
        <p:spPr>
          <a:xfrm>
            <a:off x="3108960" y="3355848"/>
            <a:ext cx="1463040" cy="457200"/>
          </a:xfrm>
          <a:prstGeom prst="rect">
            <a:avLst/>
          </a:prstGeom>
          <a:noFill/>
          <a:ln/>
        </p:spPr>
        <p:txBody>
          <a:bodyPr wrap="square" lIns="0" tIns="0" rIns="0" bIns="0" rtlCol="0" anchor="ctr"/>
          <a:lstStyle/>
          <a:p>
            <a:pPr indent="0" marL="0">
              <a:buNone/>
            </a:pPr>
            <a:r>
              <a:rPr lang="en-US" sz="1100" dirty="0">
                <a:solidFill>
                  <a:srgbClr val="5B6B7C"/>
                </a:solidFill>
                <a:latin typeface="Calibri" pitchFamily="34" charset="0"/>
                <a:ea typeface="Calibri" pitchFamily="34" charset="-122"/>
                <a:cs typeface="Calibri" pitchFamily="34" charset="-120"/>
              </a:rPr>
              <a:t>—</a:t>
            </a:r>
            <a:endParaRPr lang="en-US" sz="1100" dirty="0"/>
          </a:p>
        </p:txBody>
      </p:sp>
      <p:sp>
        <p:nvSpPr>
          <p:cNvPr id="13" name="Text 11"/>
          <p:cNvSpPr txBox="1"/>
          <p:nvPr/>
        </p:nvSpPr>
        <p:spPr>
          <a:xfrm>
            <a:off x="4572000" y="3355848"/>
            <a:ext cx="1234440" cy="457200"/>
          </a:xfrm>
          <a:prstGeom prst="rect">
            <a:avLst/>
          </a:prstGeom>
          <a:noFill/>
          <a:ln/>
        </p:spPr>
        <p:txBody>
          <a:bodyPr wrap="square" lIns="0" tIns="0" rIns="0" bIns="0" rtlCol="0" anchor="ctr"/>
          <a:lstStyle/>
          <a:p>
            <a:pPr algn="r" indent="0" marL="0">
              <a:buNone/>
            </a:pPr>
            <a:r>
              <a:rPr lang="en-US" sz="1250" b="1" dirty="0">
                <a:solidFill>
                  <a:srgbClr val="5B6B7C"/>
                </a:solidFill>
                <a:latin typeface="Calibri" pitchFamily="34" charset="0"/>
                <a:ea typeface="Calibri" pitchFamily="34" charset="-122"/>
                <a:cs typeface="Calibri" pitchFamily="34" charset="-120"/>
              </a:rPr>
              <a:t>p = 0,299</a:t>
            </a:r>
            <a:endParaRPr lang="en-US" sz="1250" dirty="0"/>
          </a:p>
        </p:txBody>
      </p:sp>
      <p:sp>
        <p:nvSpPr>
          <p:cNvPr id="14" name="Text 12"/>
          <p:cNvSpPr txBox="1"/>
          <p:nvPr/>
        </p:nvSpPr>
        <p:spPr>
          <a:xfrm>
            <a:off x="868680" y="3922776"/>
            <a:ext cx="2286000" cy="457200"/>
          </a:xfrm>
          <a:prstGeom prst="rect">
            <a:avLst/>
          </a:prstGeom>
          <a:noFill/>
          <a:ln/>
        </p:spPr>
        <p:txBody>
          <a:bodyPr wrap="square" lIns="0" tIns="0" rIns="0" bIns="0" rtlCol="0" anchor="ctr"/>
          <a:lstStyle/>
          <a:p>
            <a:pPr indent="0" marL="0">
              <a:buNone/>
            </a:pPr>
            <a:r>
              <a:rPr lang="en-US" sz="1250" dirty="0">
                <a:solidFill>
                  <a:srgbClr val="1B2A3A"/>
                </a:solidFill>
                <a:latin typeface="Calibri" pitchFamily="34" charset="0"/>
                <a:ea typeface="Calibri" pitchFamily="34" charset="-122"/>
                <a:cs typeface="Calibri" pitchFamily="34" charset="-120"/>
              </a:rPr>
              <a:t>Poziom rozgrywkowy</a:t>
            </a:r>
            <a:endParaRPr lang="en-US" sz="1250" dirty="0"/>
          </a:p>
        </p:txBody>
      </p:sp>
      <p:sp>
        <p:nvSpPr>
          <p:cNvPr id="15" name="Text 13"/>
          <p:cNvSpPr txBox="1"/>
          <p:nvPr/>
        </p:nvSpPr>
        <p:spPr>
          <a:xfrm>
            <a:off x="3108960" y="3922776"/>
            <a:ext cx="1463040" cy="457200"/>
          </a:xfrm>
          <a:prstGeom prst="rect">
            <a:avLst/>
          </a:prstGeom>
          <a:noFill/>
          <a:ln/>
        </p:spPr>
        <p:txBody>
          <a:bodyPr wrap="square" lIns="0" tIns="0" rIns="0" bIns="0" rtlCol="0" anchor="ctr"/>
          <a:lstStyle/>
          <a:p>
            <a:pPr indent="0" marL="0">
              <a:buNone/>
            </a:pPr>
            <a:r>
              <a:rPr lang="en-US" sz="1100" dirty="0">
                <a:solidFill>
                  <a:srgbClr val="5B6B7C"/>
                </a:solidFill>
                <a:latin typeface="Calibri" pitchFamily="34" charset="0"/>
                <a:ea typeface="Calibri" pitchFamily="34" charset="-122"/>
                <a:cs typeface="Calibri" pitchFamily="34" charset="-120"/>
              </a:rPr>
              <a:t>χ² = 0,021</a:t>
            </a:r>
            <a:endParaRPr lang="en-US" sz="1100" dirty="0"/>
          </a:p>
        </p:txBody>
      </p:sp>
      <p:sp>
        <p:nvSpPr>
          <p:cNvPr id="16" name="Text 14"/>
          <p:cNvSpPr txBox="1"/>
          <p:nvPr/>
        </p:nvSpPr>
        <p:spPr>
          <a:xfrm>
            <a:off x="4572000" y="3922776"/>
            <a:ext cx="1234440" cy="457200"/>
          </a:xfrm>
          <a:prstGeom prst="rect">
            <a:avLst/>
          </a:prstGeom>
          <a:noFill/>
          <a:ln/>
        </p:spPr>
        <p:txBody>
          <a:bodyPr wrap="square" lIns="0" tIns="0" rIns="0" bIns="0" rtlCol="0" anchor="ctr"/>
          <a:lstStyle/>
          <a:p>
            <a:pPr algn="r" indent="0" marL="0">
              <a:buNone/>
            </a:pPr>
            <a:r>
              <a:rPr lang="en-US" sz="1250" b="1" dirty="0">
                <a:solidFill>
                  <a:srgbClr val="5B6B7C"/>
                </a:solidFill>
                <a:latin typeface="Calibri" pitchFamily="34" charset="0"/>
                <a:ea typeface="Calibri" pitchFamily="34" charset="-122"/>
                <a:cs typeface="Calibri" pitchFamily="34" charset="-120"/>
              </a:rPr>
              <a:t>p = 0,884</a:t>
            </a:r>
            <a:endParaRPr lang="en-US" sz="1250" dirty="0"/>
          </a:p>
        </p:txBody>
      </p:sp>
      <p:sp>
        <p:nvSpPr>
          <p:cNvPr id="17" name="Shape 15"/>
          <p:cNvSpPr/>
          <p:nvPr/>
        </p:nvSpPr>
        <p:spPr>
          <a:xfrm>
            <a:off x="868680" y="4617720"/>
            <a:ext cx="4754880" cy="566928"/>
          </a:xfrm>
          <a:prstGeom prst="roundRect">
            <a:avLst>
              <a:gd name="adj" fmla="val 48387"/>
            </a:avLst>
          </a:prstGeom>
          <a:solidFill>
            <a:srgbClr val="E9F3F6"/>
          </a:solidFill>
          <a:ln/>
        </p:spPr>
      </p:sp>
      <p:sp>
        <p:nvSpPr>
          <p:cNvPr id="18" name="Text 16"/>
          <p:cNvSpPr txBox="1"/>
          <p:nvPr/>
        </p:nvSpPr>
        <p:spPr>
          <a:xfrm>
            <a:off x="868680" y="4617720"/>
            <a:ext cx="4754880" cy="566928"/>
          </a:xfrm>
          <a:prstGeom prst="rect">
            <a:avLst/>
          </a:prstGeom>
          <a:noFill/>
          <a:ln/>
        </p:spPr>
        <p:txBody>
          <a:bodyPr wrap="square" lIns="0" tIns="0" rIns="0" bIns="0" rtlCol="0" anchor="ctr"/>
          <a:lstStyle/>
          <a:p>
            <a:pPr algn="ctr" indent="0" marL="0">
              <a:buNone/>
            </a:pPr>
            <a:r>
              <a:rPr lang="en-US" sz="1300" b="1" dirty="0">
                <a:solidFill>
                  <a:srgbClr val="1E88A8"/>
                </a:solidFill>
                <a:latin typeface="Calibri" pitchFamily="34" charset="0"/>
                <a:ea typeface="Calibri" pitchFamily="34" charset="-122"/>
                <a:cs typeface="Calibri" pitchFamily="34" charset="-120"/>
              </a:rPr>
              <a:t>Wniosek: H1 potwierdzona częściowo</a:t>
            </a:r>
            <a:endParaRPr lang="en-US" sz="1300" dirty="0"/>
          </a:p>
        </p:txBody>
      </p:sp>
      <p:sp>
        <p:nvSpPr>
          <p:cNvPr id="19" name="Shape 17"/>
          <p:cNvSpPr/>
          <p:nvPr/>
        </p:nvSpPr>
        <p:spPr>
          <a:xfrm>
            <a:off x="6263640" y="1737360"/>
            <a:ext cx="5376672" cy="4480560"/>
          </a:xfrm>
          <a:prstGeom prst="roundRect">
            <a:avLst>
              <a:gd name="adj" fmla="val 1633"/>
            </a:avLst>
          </a:prstGeom>
          <a:solidFill>
            <a:srgbClr val="10263E"/>
          </a:solidFill>
          <a:ln/>
        </p:spPr>
      </p:sp>
      <p:sp>
        <p:nvSpPr>
          <p:cNvPr id="20" name="Shape 18"/>
          <p:cNvSpPr/>
          <p:nvPr/>
        </p:nvSpPr>
        <p:spPr>
          <a:xfrm>
            <a:off x="6583680" y="1965960"/>
            <a:ext cx="594360" cy="594360"/>
          </a:xfrm>
          <a:prstGeom prst="ellipse">
            <a:avLst/>
          </a:prstGeom>
          <a:solidFill>
            <a:srgbClr val="E8604C"/>
          </a:solidFill>
          <a:ln/>
        </p:spPr>
      </p:sp>
      <p:sp>
        <p:nvSpPr>
          <p:cNvPr id="21" name="Text 19"/>
          <p:cNvSpPr txBox="1"/>
          <p:nvPr/>
        </p:nvSpPr>
        <p:spPr>
          <a:xfrm>
            <a:off x="6583680" y="196596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H2</a:t>
            </a:r>
            <a:endParaRPr lang="en-US" sz="1500" dirty="0"/>
          </a:p>
        </p:txBody>
      </p:sp>
      <p:sp>
        <p:nvSpPr>
          <p:cNvPr id="22" name="Text 20"/>
          <p:cNvSpPr txBox="1"/>
          <p:nvPr/>
        </p:nvSpPr>
        <p:spPr>
          <a:xfrm>
            <a:off x="7360920" y="1965960"/>
            <a:ext cx="4114800" cy="5943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Mechanizm urazu × rodzaj tkanki</a:t>
            </a:r>
            <a:endParaRPr lang="en-US" sz="1500" dirty="0"/>
          </a:p>
        </p:txBody>
      </p:sp>
      <p:sp>
        <p:nvSpPr>
          <p:cNvPr id="23" name="Shape 21"/>
          <p:cNvSpPr/>
          <p:nvPr/>
        </p:nvSpPr>
        <p:spPr>
          <a:xfrm>
            <a:off x="6583680" y="2834640"/>
            <a:ext cx="4663440" cy="1371600"/>
          </a:xfrm>
          <a:prstGeom prst="roundRect">
            <a:avLst>
              <a:gd name="adj" fmla="val 5333"/>
            </a:avLst>
          </a:prstGeom>
          <a:solidFill>
            <a:srgbClr val="FFFFFF"/>
          </a:solidFill>
          <a:ln/>
          <a:effectLst>
            <a:outerShdw sx="100000" sy="100000" kx="0" ky="0" algn="bl" rotWithShape="0" blurRad="76200" dist="25400" dir="5400000">
              <a:srgbClr val="8AA0B4">
                <a:alpha val="25000"/>
              </a:srgbClr>
            </a:outerShdw>
          </a:effectLst>
        </p:spPr>
      </p:sp>
      <p:sp>
        <p:nvSpPr>
          <p:cNvPr id="24" name="Text 22"/>
          <p:cNvSpPr txBox="1"/>
          <p:nvPr/>
        </p:nvSpPr>
        <p:spPr>
          <a:xfrm>
            <a:off x="6720840" y="2944368"/>
            <a:ext cx="4389120" cy="804672"/>
          </a:xfrm>
          <a:prstGeom prst="rect">
            <a:avLst/>
          </a:prstGeom>
          <a:noFill/>
          <a:ln/>
        </p:spPr>
        <p:txBody>
          <a:bodyPr wrap="square" lIns="0" tIns="0" rIns="0" bIns="0" rtlCol="0" anchor="b"/>
          <a:lstStyle/>
          <a:p>
            <a:pPr algn="ctr" indent="0" marL="0">
              <a:buNone/>
            </a:pPr>
            <a:r>
              <a:rPr lang="en-US" sz="3000" b="1" dirty="0">
                <a:solidFill>
                  <a:srgbClr val="10263E"/>
                </a:solidFill>
                <a:latin typeface="Cambria" pitchFamily="34" charset="0"/>
                <a:ea typeface="Cambria" pitchFamily="34" charset="-122"/>
                <a:cs typeface="Cambria" pitchFamily="34" charset="-120"/>
              </a:rPr>
              <a:t>p = 0,261</a:t>
            </a:r>
            <a:endParaRPr lang="en-US" sz="3000" dirty="0"/>
          </a:p>
        </p:txBody>
      </p:sp>
      <p:sp>
        <p:nvSpPr>
          <p:cNvPr id="25" name="Text 23"/>
          <p:cNvSpPr txBox="1"/>
          <p:nvPr/>
        </p:nvSpPr>
        <p:spPr>
          <a:xfrm>
            <a:off x="6693408" y="3749040"/>
            <a:ext cx="4443984" cy="384048"/>
          </a:xfrm>
          <a:prstGeom prst="rect">
            <a:avLst/>
          </a:prstGeom>
          <a:noFill/>
          <a:ln/>
        </p:spPr>
        <p:txBody>
          <a:bodyPr wrap="square" lIns="0" tIns="0" rIns="0" bIns="0" rtlCol="0" anchor="t"/>
          <a:lstStyle/>
          <a:p>
            <a:pPr algn="ctr" indent="0" marL="0">
              <a:buNone/>
            </a:pPr>
            <a:r>
              <a:rPr lang="en-US" sz="1050" dirty="0">
                <a:solidFill>
                  <a:srgbClr val="5B6B7C"/>
                </a:solidFill>
                <a:latin typeface="Calibri" pitchFamily="34" charset="0"/>
                <a:ea typeface="Calibri" pitchFamily="34" charset="-122"/>
                <a:cs typeface="Calibri" pitchFamily="34" charset="-120"/>
              </a:rPr>
              <a:t>χ² Pearsona = 1,265 (n = 30)</a:t>
            </a:r>
            <a:endParaRPr lang="en-US" sz="1050" dirty="0"/>
          </a:p>
        </p:txBody>
      </p:sp>
      <p:sp>
        <p:nvSpPr>
          <p:cNvPr id="26" name="Text 24"/>
          <p:cNvSpPr txBox="1"/>
          <p:nvPr/>
        </p:nvSpPr>
        <p:spPr>
          <a:xfrm>
            <a:off x="6583680" y="4434840"/>
            <a:ext cx="4709160" cy="731520"/>
          </a:xfrm>
          <a:prstGeom prst="rect">
            <a:avLst/>
          </a:prstGeom>
          <a:noFill/>
          <a:ln/>
        </p:spPr>
        <p:txBody>
          <a:bodyPr wrap="square" lIns="0" tIns="0" rIns="0" bIns="0" rtlCol="0" anchor="ctr"/>
          <a:lstStyle/>
          <a:p>
            <a:pPr indent="0" marL="0">
              <a:buNone/>
            </a:pPr>
            <a:r>
              <a:rPr lang="en-US" sz="1250" dirty="0">
                <a:solidFill>
                  <a:srgbClr val="CFE0EC"/>
                </a:solidFill>
                <a:latin typeface="Calibri" pitchFamily="34" charset="0"/>
                <a:ea typeface="Calibri" pitchFamily="34" charset="-122"/>
                <a:cs typeface="Calibri" pitchFamily="34" charset="-120"/>
              </a:rPr>
              <a:t>Kontaktowy vs. bezkontaktowy nie różnicuje istotnie rodzaju uszkodzonej tkanki (mięśnie vs. więzadła).</a:t>
            </a:r>
            <a:endParaRPr lang="en-US" sz="1250" dirty="0"/>
          </a:p>
        </p:txBody>
      </p:sp>
      <p:sp>
        <p:nvSpPr>
          <p:cNvPr id="27" name="Shape 25"/>
          <p:cNvSpPr/>
          <p:nvPr/>
        </p:nvSpPr>
        <p:spPr>
          <a:xfrm>
            <a:off x="6583680" y="5257800"/>
            <a:ext cx="4526280" cy="566928"/>
          </a:xfrm>
          <a:prstGeom prst="roundRect">
            <a:avLst>
              <a:gd name="adj" fmla="val 48387"/>
            </a:avLst>
          </a:prstGeom>
          <a:solidFill>
            <a:srgbClr val="1F3A57"/>
          </a:solidFill>
          <a:ln/>
        </p:spPr>
      </p:sp>
      <p:sp>
        <p:nvSpPr>
          <p:cNvPr id="28" name="Text 26"/>
          <p:cNvSpPr txBox="1"/>
          <p:nvPr/>
        </p:nvSpPr>
        <p:spPr>
          <a:xfrm>
            <a:off x="6583680" y="5257800"/>
            <a:ext cx="452628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Wniosek: H2 nie potwierdzona</a:t>
            </a:r>
            <a:endParaRPr lang="en-US" sz="1300" dirty="0"/>
          </a:p>
        </p:txBody>
      </p:sp>
      <p:sp>
        <p:nvSpPr>
          <p:cNvPr id="29" name="Text 27"/>
          <p:cNvSpPr txBox="1"/>
          <p:nvPr/>
        </p:nvSpPr>
        <p:spPr>
          <a:xfrm>
            <a:off x="11368735" y="6355080"/>
            <a:ext cx="457200" cy="320040"/>
          </a:xfrm>
          <a:prstGeom prst="rect">
            <a:avLst/>
          </a:prstGeom>
          <a:noFill/>
          <a:ln/>
        </p:spPr>
        <p:txBody>
          <a:bodyPr wrap="square" lIns="0" tIns="0" rIns="0" bIns="0" rtlCol="0" anchor="ctr"/>
          <a:lstStyle/>
          <a:p>
            <a:pPr algn="r" indent="0" marL="0">
              <a:buNone/>
            </a:pPr>
            <a:r>
              <a:rPr lang="en-US" sz="1100" dirty="0">
                <a:solidFill>
                  <a:srgbClr val="5B6B7C"/>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A"/>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56032"/>
          </a:xfrm>
          <a:prstGeom prst="rect">
            <a:avLst/>
          </a:prstGeom>
          <a:noFill/>
          <a:ln/>
        </p:spPr>
        <p:txBody>
          <a:bodyPr wrap="square" lIns="0" tIns="0" rIns="0" bIns="0" rtlCol="0" anchor="t"/>
          <a:lstStyle/>
          <a:p>
            <a:pPr indent="0" marL="0">
              <a:buNone/>
            </a:pPr>
            <a:r>
              <a:rPr lang="en-US" sz="1300" b="1" spc="200" kern="0" dirty="0">
                <a:solidFill>
                  <a:srgbClr val="1E88A8"/>
                </a:solidFill>
                <a:latin typeface="Calibri" pitchFamily="34" charset="0"/>
                <a:ea typeface="Calibri" pitchFamily="34" charset="-122"/>
                <a:cs typeface="Calibri" pitchFamily="34" charset="-120"/>
              </a:rPr>
              <a:t>WYNIKI III</a:t>
            </a:r>
            <a:endParaRPr lang="en-US" sz="1300" dirty="0"/>
          </a:p>
        </p:txBody>
      </p:sp>
      <p:sp>
        <p:nvSpPr>
          <p:cNvPr id="3" name="Text 1"/>
          <p:cNvSpPr txBox="1"/>
          <p:nvPr/>
        </p:nvSpPr>
        <p:spPr>
          <a:xfrm>
            <a:off x="548640" y="749808"/>
            <a:ext cx="11064240" cy="822960"/>
          </a:xfrm>
          <a:prstGeom prst="rect">
            <a:avLst/>
          </a:prstGeom>
          <a:noFill/>
          <a:ln/>
        </p:spPr>
        <p:txBody>
          <a:bodyPr wrap="square" lIns="0" tIns="0" rIns="0" bIns="0" rtlCol="0" anchor="ctr"/>
          <a:lstStyle/>
          <a:p>
            <a:pPr indent="0" marL="0">
              <a:buNone/>
            </a:pPr>
            <a:r>
              <a:rPr lang="en-US" sz="3200" b="1" dirty="0">
                <a:solidFill>
                  <a:srgbClr val="10263E"/>
                </a:solidFill>
                <a:latin typeface="Cambria" pitchFamily="34" charset="0"/>
                <a:ea typeface="Cambria" pitchFamily="34" charset="-122"/>
                <a:cs typeface="Cambria" pitchFamily="34" charset="-120"/>
              </a:rPr>
              <a:t>Return to Play i kinezjofobia — H3</a:t>
            </a:r>
            <a:endParaRPr lang="en-US" sz="3200" dirty="0"/>
          </a:p>
        </p:txBody>
      </p:sp>
      <p:sp>
        <p:nvSpPr>
          <p:cNvPr id="4" name="Shape 2"/>
          <p:cNvSpPr/>
          <p:nvPr/>
        </p:nvSpPr>
        <p:spPr>
          <a:xfrm>
            <a:off x="548640" y="1737360"/>
            <a:ext cx="3566160" cy="1508760"/>
          </a:xfrm>
          <a:prstGeom prst="roundRect">
            <a:avLst>
              <a:gd name="adj" fmla="val 4848"/>
            </a:avLst>
          </a:prstGeom>
          <a:solidFill>
            <a:srgbClr val="FFFFFF"/>
          </a:solidFill>
          <a:ln/>
          <a:effectLst>
            <a:outerShdw sx="100000" sy="100000" kx="0" ky="0" algn="bl" rotWithShape="0" blurRad="76200" dist="25400" dir="5400000">
              <a:srgbClr val="8AA0B4">
                <a:alpha val="25000"/>
              </a:srgbClr>
            </a:outerShdw>
          </a:effectLst>
        </p:spPr>
      </p:sp>
      <p:sp>
        <p:nvSpPr>
          <p:cNvPr id="5" name="Text 3"/>
          <p:cNvSpPr txBox="1"/>
          <p:nvPr/>
        </p:nvSpPr>
        <p:spPr>
          <a:xfrm>
            <a:off x="685800" y="1847088"/>
            <a:ext cx="3291840" cy="941832"/>
          </a:xfrm>
          <a:prstGeom prst="rect">
            <a:avLst/>
          </a:prstGeom>
          <a:noFill/>
          <a:ln/>
        </p:spPr>
        <p:txBody>
          <a:bodyPr wrap="square" lIns="0" tIns="0" rIns="0" bIns="0" rtlCol="0" anchor="b"/>
          <a:lstStyle/>
          <a:p>
            <a:pPr algn="ctr" indent="0" marL="0">
              <a:buNone/>
            </a:pPr>
            <a:r>
              <a:rPr lang="en-US" sz="3600" b="1" dirty="0">
                <a:solidFill>
                  <a:srgbClr val="E8604C"/>
                </a:solidFill>
                <a:latin typeface="Cambria" pitchFamily="34" charset="0"/>
                <a:ea typeface="Cambria" pitchFamily="34" charset="-122"/>
                <a:cs typeface="Cambria" pitchFamily="34" charset="-120"/>
              </a:rPr>
              <a:t>76,8%</a:t>
            </a:r>
            <a:endParaRPr lang="en-US" sz="3600" dirty="0"/>
          </a:p>
        </p:txBody>
      </p:sp>
      <p:sp>
        <p:nvSpPr>
          <p:cNvPr id="6" name="Text 4"/>
          <p:cNvSpPr txBox="1"/>
          <p:nvPr/>
        </p:nvSpPr>
        <p:spPr>
          <a:xfrm>
            <a:off x="658368" y="2788920"/>
            <a:ext cx="3346704" cy="384048"/>
          </a:xfrm>
          <a:prstGeom prst="rect">
            <a:avLst/>
          </a:prstGeom>
          <a:noFill/>
          <a:ln/>
        </p:spPr>
        <p:txBody>
          <a:bodyPr wrap="square" lIns="0" tIns="0" rIns="0" bIns="0" rtlCol="0" anchor="t"/>
          <a:lstStyle/>
          <a:p>
            <a:pPr algn="ctr" indent="0" marL="0">
              <a:buNone/>
            </a:pPr>
            <a:r>
              <a:rPr lang="en-US" sz="1050" dirty="0">
                <a:solidFill>
                  <a:srgbClr val="5B6B7C"/>
                </a:solidFill>
                <a:latin typeface="Calibri" pitchFamily="34" charset="0"/>
                <a:ea typeface="Calibri" pitchFamily="34" charset="-122"/>
                <a:cs typeface="Calibri" pitchFamily="34" charset="-120"/>
              </a:rPr>
              <a:t>bez żadnych testów funkcjonalnych przed powrotem</a:t>
            </a:r>
            <a:endParaRPr lang="en-US" sz="1050" dirty="0"/>
          </a:p>
        </p:txBody>
      </p:sp>
      <p:sp>
        <p:nvSpPr>
          <p:cNvPr id="7" name="Shape 5"/>
          <p:cNvSpPr/>
          <p:nvPr/>
        </p:nvSpPr>
        <p:spPr>
          <a:xfrm>
            <a:off x="4251960" y="1737360"/>
            <a:ext cx="3566160" cy="1508760"/>
          </a:xfrm>
          <a:prstGeom prst="roundRect">
            <a:avLst>
              <a:gd name="adj" fmla="val 4848"/>
            </a:avLst>
          </a:prstGeom>
          <a:solidFill>
            <a:srgbClr val="FFFFFF"/>
          </a:solidFill>
          <a:ln/>
          <a:effectLst>
            <a:outerShdw sx="100000" sy="100000" kx="0" ky="0" algn="bl" rotWithShape="0" blurRad="76200" dist="25400" dir="5400000">
              <a:srgbClr val="8AA0B4">
                <a:alpha val="25000"/>
              </a:srgbClr>
            </a:outerShdw>
          </a:effectLst>
        </p:spPr>
      </p:sp>
      <p:sp>
        <p:nvSpPr>
          <p:cNvPr id="8" name="Text 6"/>
          <p:cNvSpPr txBox="1"/>
          <p:nvPr/>
        </p:nvSpPr>
        <p:spPr>
          <a:xfrm>
            <a:off x="4389120" y="1847088"/>
            <a:ext cx="3291840" cy="941832"/>
          </a:xfrm>
          <a:prstGeom prst="rect">
            <a:avLst/>
          </a:prstGeom>
          <a:noFill/>
          <a:ln/>
        </p:spPr>
        <p:txBody>
          <a:bodyPr wrap="square" lIns="0" tIns="0" rIns="0" bIns="0" rtlCol="0" anchor="b"/>
          <a:lstStyle/>
          <a:p>
            <a:pPr algn="ctr" indent="0" marL="0">
              <a:buNone/>
            </a:pPr>
            <a:r>
              <a:rPr lang="en-US" sz="3600" b="1" dirty="0">
                <a:solidFill>
                  <a:srgbClr val="E8604C"/>
                </a:solidFill>
                <a:latin typeface="Cambria" pitchFamily="34" charset="0"/>
                <a:ea typeface="Cambria" pitchFamily="34" charset="-122"/>
                <a:cs typeface="Cambria" pitchFamily="34" charset="-120"/>
              </a:rPr>
              <a:t>58,9%</a:t>
            </a:r>
            <a:endParaRPr lang="en-US" sz="3600" dirty="0"/>
          </a:p>
        </p:txBody>
      </p:sp>
      <p:sp>
        <p:nvSpPr>
          <p:cNvPr id="9" name="Text 7"/>
          <p:cNvSpPr txBox="1"/>
          <p:nvPr/>
        </p:nvSpPr>
        <p:spPr>
          <a:xfrm>
            <a:off x="4361688" y="2788920"/>
            <a:ext cx="3346704" cy="384048"/>
          </a:xfrm>
          <a:prstGeom prst="rect">
            <a:avLst/>
          </a:prstGeom>
          <a:noFill/>
          <a:ln/>
        </p:spPr>
        <p:txBody>
          <a:bodyPr wrap="square" lIns="0" tIns="0" rIns="0" bIns="0" rtlCol="0" anchor="t"/>
          <a:lstStyle/>
          <a:p>
            <a:pPr algn="ctr" indent="0" marL="0">
              <a:buNone/>
            </a:pPr>
            <a:r>
              <a:rPr lang="en-US" sz="1050" dirty="0">
                <a:solidFill>
                  <a:srgbClr val="5B6B7C"/>
                </a:solidFill>
                <a:latin typeface="Calibri" pitchFamily="34" charset="0"/>
                <a:ea typeface="Calibri" pitchFamily="34" charset="-122"/>
                <a:cs typeface="Calibri" pitchFamily="34" charset="-120"/>
              </a:rPr>
              <a:t>decyzja o powrocie podjęta samodzielnie</a:t>
            </a:r>
            <a:endParaRPr lang="en-US" sz="1050" dirty="0"/>
          </a:p>
        </p:txBody>
      </p:sp>
      <p:sp>
        <p:nvSpPr>
          <p:cNvPr id="10" name="Shape 8"/>
          <p:cNvSpPr/>
          <p:nvPr/>
        </p:nvSpPr>
        <p:spPr>
          <a:xfrm>
            <a:off x="7955280" y="1737360"/>
            <a:ext cx="3685032" cy="1508760"/>
          </a:xfrm>
          <a:prstGeom prst="roundRect">
            <a:avLst>
              <a:gd name="adj" fmla="val 4848"/>
            </a:avLst>
          </a:prstGeom>
          <a:solidFill>
            <a:srgbClr val="10263E"/>
          </a:solidFill>
          <a:ln/>
        </p:spPr>
      </p:sp>
      <p:sp>
        <p:nvSpPr>
          <p:cNvPr id="11" name="Text 9"/>
          <p:cNvSpPr txBox="1"/>
          <p:nvPr/>
        </p:nvSpPr>
        <p:spPr>
          <a:xfrm>
            <a:off x="8138160" y="1810512"/>
            <a:ext cx="3291840" cy="228600"/>
          </a:xfrm>
          <a:prstGeom prst="rect">
            <a:avLst/>
          </a:prstGeom>
          <a:noFill/>
          <a:ln/>
        </p:spPr>
        <p:txBody>
          <a:bodyPr wrap="square" lIns="0" tIns="0" rIns="0" bIns="0" rtlCol="0" anchor="t"/>
          <a:lstStyle/>
          <a:p>
            <a:pPr indent="0" marL="0">
              <a:buNone/>
            </a:pPr>
            <a:r>
              <a:rPr lang="en-US" sz="1100" b="1" dirty="0">
                <a:solidFill>
                  <a:srgbClr val="9FB4C7"/>
                </a:solidFill>
                <a:latin typeface="Calibri" pitchFamily="34" charset="0"/>
                <a:ea typeface="Calibri" pitchFamily="34" charset="-122"/>
                <a:cs typeface="Calibri" pitchFamily="34" charset="-120"/>
              </a:rPr>
              <a:t>Kinezjofobia</a:t>
            </a:r>
            <a:endParaRPr lang="en-US" sz="1100" dirty="0"/>
          </a:p>
        </p:txBody>
      </p:sp>
      <p:sp>
        <p:nvSpPr>
          <p:cNvPr id="12" name="Text 10"/>
          <p:cNvSpPr txBox="1"/>
          <p:nvPr/>
        </p:nvSpPr>
        <p:spPr>
          <a:xfrm>
            <a:off x="8138160" y="2048256"/>
            <a:ext cx="3291840" cy="566928"/>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69,6%</a:t>
            </a:r>
            <a:endParaRPr lang="en-US" sz="2800" dirty="0"/>
          </a:p>
        </p:txBody>
      </p:sp>
      <p:sp>
        <p:nvSpPr>
          <p:cNvPr id="13" name="Text 11"/>
          <p:cNvSpPr txBox="1"/>
          <p:nvPr/>
        </p:nvSpPr>
        <p:spPr>
          <a:xfrm>
            <a:off x="8138160" y="2670048"/>
            <a:ext cx="3291840" cy="502920"/>
          </a:xfrm>
          <a:prstGeom prst="rect">
            <a:avLst/>
          </a:prstGeom>
          <a:noFill/>
          <a:ln/>
        </p:spPr>
        <p:txBody>
          <a:bodyPr wrap="square" lIns="0" tIns="0" rIns="0" bIns="0" rtlCol="0" anchor="t"/>
          <a:lstStyle/>
          <a:p>
            <a:pPr indent="0" marL="0">
              <a:buNone/>
            </a:pPr>
            <a:r>
              <a:rPr lang="en-US" sz="1050" dirty="0">
                <a:solidFill>
                  <a:srgbClr val="CFE0EC"/>
                </a:solidFill>
                <a:latin typeface="Calibri" pitchFamily="34" charset="0"/>
                <a:ea typeface="Calibri" pitchFamily="34" charset="-122"/>
                <a:cs typeface="Calibri" pitchFamily="34" charset="-120"/>
              </a:rPr>
              <a:t>zawodników zgłasza lęk przed ponownym urazem</a:t>
            </a:r>
            <a:endParaRPr lang="en-US" sz="1050" dirty="0"/>
          </a:p>
        </p:txBody>
      </p:sp>
      <p:sp>
        <p:nvSpPr>
          <p:cNvPr id="14" name="Text 12"/>
          <p:cNvSpPr txBox="1"/>
          <p:nvPr/>
        </p:nvSpPr>
        <p:spPr>
          <a:xfrm>
            <a:off x="548640" y="3520440"/>
            <a:ext cx="7315200" cy="365760"/>
          </a:xfrm>
          <a:prstGeom prst="rect">
            <a:avLst/>
          </a:prstGeom>
          <a:noFill/>
          <a:ln/>
        </p:spPr>
        <p:txBody>
          <a:bodyPr wrap="square" lIns="0" tIns="0" rIns="0" bIns="0" rtlCol="0" anchor="ctr"/>
          <a:lstStyle/>
          <a:p>
            <a:pPr indent="0" marL="0">
              <a:buNone/>
            </a:pPr>
            <a:r>
              <a:rPr lang="en-US" sz="1350" b="1" dirty="0">
                <a:solidFill>
                  <a:srgbClr val="10263E"/>
                </a:solidFill>
                <a:latin typeface="Calibri" pitchFamily="34" charset="0"/>
                <a:ea typeface="Calibri" pitchFamily="34" charset="-122"/>
                <a:cs typeface="Calibri" pitchFamily="34" charset="-120"/>
              </a:rPr>
              <a:t>Korelacje istotne statystycznie:</a:t>
            </a:r>
            <a:endParaRPr lang="en-US" sz="1350" dirty="0"/>
          </a:p>
        </p:txBody>
      </p:sp>
      <p:sp>
        <p:nvSpPr>
          <p:cNvPr id="15" name="Shape 13"/>
          <p:cNvSpPr/>
          <p:nvPr/>
        </p:nvSpPr>
        <p:spPr>
          <a:xfrm>
            <a:off x="548640" y="3977640"/>
            <a:ext cx="7452360" cy="658368"/>
          </a:xfrm>
          <a:prstGeom prst="roundRect">
            <a:avLst>
              <a:gd name="adj" fmla="val 8333"/>
            </a:avLst>
          </a:prstGeom>
          <a:solidFill>
            <a:srgbClr val="FFFFFF"/>
          </a:solidFill>
          <a:ln/>
          <a:effectLst>
            <a:outerShdw sx="100000" sy="100000" kx="0" ky="0" algn="bl" rotWithShape="0" blurRad="50800" dist="19050" dir="5400000">
              <a:srgbClr val="8AA0B4">
                <a:alpha val="18000"/>
              </a:srgbClr>
            </a:outerShdw>
          </a:effectLst>
        </p:spPr>
      </p:sp>
      <p:sp>
        <p:nvSpPr>
          <p:cNvPr id="16" name="Text 14"/>
          <p:cNvSpPr txBox="1"/>
          <p:nvPr/>
        </p:nvSpPr>
        <p:spPr>
          <a:xfrm>
            <a:off x="777240" y="3977640"/>
            <a:ext cx="4754880" cy="658368"/>
          </a:xfrm>
          <a:prstGeom prst="rect">
            <a:avLst/>
          </a:prstGeom>
          <a:noFill/>
          <a:ln/>
        </p:spPr>
        <p:txBody>
          <a:bodyPr wrap="square" lIns="0" tIns="0" rIns="0" bIns="0" rtlCol="0" anchor="ctr"/>
          <a:lstStyle/>
          <a:p>
            <a:pPr indent="0" marL="0">
              <a:buNone/>
            </a:pPr>
            <a:r>
              <a:rPr lang="en-US" sz="1300" dirty="0">
                <a:solidFill>
                  <a:srgbClr val="1B2A3A"/>
                </a:solidFill>
                <a:latin typeface="Calibri" pitchFamily="34" charset="0"/>
                <a:ea typeface="Calibri" pitchFamily="34" charset="-122"/>
                <a:cs typeface="Calibri" pitchFamily="34" charset="-120"/>
              </a:rPr>
              <a:t>Etapowość powrotu × nasilenie kinezjofobii</a:t>
            </a:r>
            <a:endParaRPr lang="en-US" sz="1300" dirty="0"/>
          </a:p>
        </p:txBody>
      </p:sp>
      <p:sp>
        <p:nvSpPr>
          <p:cNvPr id="17" name="Text 15"/>
          <p:cNvSpPr txBox="1"/>
          <p:nvPr/>
        </p:nvSpPr>
        <p:spPr>
          <a:xfrm>
            <a:off x="5577840" y="3977640"/>
            <a:ext cx="2286000" cy="658368"/>
          </a:xfrm>
          <a:prstGeom prst="rect">
            <a:avLst/>
          </a:prstGeom>
          <a:noFill/>
          <a:ln/>
        </p:spPr>
        <p:txBody>
          <a:bodyPr wrap="square" lIns="0" tIns="0" rIns="0" bIns="0" rtlCol="0" anchor="ctr"/>
          <a:lstStyle/>
          <a:p>
            <a:pPr algn="r" indent="0" marL="0">
              <a:buNone/>
            </a:pPr>
            <a:r>
              <a:rPr lang="en-US" sz="1350" b="1" dirty="0">
                <a:solidFill>
                  <a:srgbClr val="E8604C"/>
                </a:solidFill>
                <a:latin typeface="Calibri" pitchFamily="34" charset="0"/>
                <a:ea typeface="Calibri" pitchFamily="34" charset="-122"/>
                <a:cs typeface="Calibri" pitchFamily="34" charset="-120"/>
              </a:rPr>
              <a:t>p = 0,014</a:t>
            </a:r>
            <a:endParaRPr lang="en-US" sz="1350" dirty="0"/>
          </a:p>
        </p:txBody>
      </p:sp>
      <p:sp>
        <p:nvSpPr>
          <p:cNvPr id="18" name="Shape 16"/>
          <p:cNvSpPr/>
          <p:nvPr/>
        </p:nvSpPr>
        <p:spPr>
          <a:xfrm>
            <a:off x="548640" y="4818888"/>
            <a:ext cx="7452360" cy="658368"/>
          </a:xfrm>
          <a:prstGeom prst="roundRect">
            <a:avLst>
              <a:gd name="adj" fmla="val 8333"/>
            </a:avLst>
          </a:prstGeom>
          <a:solidFill>
            <a:srgbClr val="FFFFFF"/>
          </a:solidFill>
          <a:ln/>
          <a:effectLst>
            <a:outerShdw sx="100000" sy="100000" kx="0" ky="0" algn="bl" rotWithShape="0" blurRad="50800" dist="19050" dir="5400000">
              <a:srgbClr val="8AA0B4">
                <a:alpha val="18000"/>
              </a:srgbClr>
            </a:outerShdw>
          </a:effectLst>
        </p:spPr>
      </p:sp>
      <p:sp>
        <p:nvSpPr>
          <p:cNvPr id="19" name="Text 17"/>
          <p:cNvSpPr txBox="1"/>
          <p:nvPr/>
        </p:nvSpPr>
        <p:spPr>
          <a:xfrm>
            <a:off x="777240" y="4818888"/>
            <a:ext cx="4754880" cy="658368"/>
          </a:xfrm>
          <a:prstGeom prst="rect">
            <a:avLst/>
          </a:prstGeom>
          <a:noFill/>
          <a:ln/>
        </p:spPr>
        <p:txBody>
          <a:bodyPr wrap="square" lIns="0" tIns="0" rIns="0" bIns="0" rtlCol="0" anchor="ctr"/>
          <a:lstStyle/>
          <a:p>
            <a:pPr indent="0" marL="0">
              <a:buNone/>
            </a:pPr>
            <a:r>
              <a:rPr lang="en-US" sz="1300" dirty="0">
                <a:solidFill>
                  <a:srgbClr val="1B2A3A"/>
                </a:solidFill>
                <a:latin typeface="Calibri" pitchFamily="34" charset="0"/>
                <a:ea typeface="Calibri" pitchFamily="34" charset="-122"/>
                <a:cs typeface="Calibri" pitchFamily="34" charset="-120"/>
              </a:rPr>
              <a:t>Liczba przebytych urazów × poziom lęku</a:t>
            </a:r>
            <a:endParaRPr lang="en-US" sz="1300" dirty="0"/>
          </a:p>
        </p:txBody>
      </p:sp>
      <p:sp>
        <p:nvSpPr>
          <p:cNvPr id="20" name="Text 18"/>
          <p:cNvSpPr txBox="1"/>
          <p:nvPr/>
        </p:nvSpPr>
        <p:spPr>
          <a:xfrm>
            <a:off x="5577840" y="4818888"/>
            <a:ext cx="2286000" cy="658368"/>
          </a:xfrm>
          <a:prstGeom prst="rect">
            <a:avLst/>
          </a:prstGeom>
          <a:noFill/>
          <a:ln/>
        </p:spPr>
        <p:txBody>
          <a:bodyPr wrap="square" lIns="0" tIns="0" rIns="0" bIns="0" rtlCol="0" anchor="ctr"/>
          <a:lstStyle/>
          <a:p>
            <a:pPr algn="r" indent="0" marL="0">
              <a:buNone/>
            </a:pPr>
            <a:r>
              <a:rPr lang="en-US" sz="1350" b="1" dirty="0">
                <a:solidFill>
                  <a:srgbClr val="E8604C"/>
                </a:solidFill>
                <a:latin typeface="Calibri" pitchFamily="34" charset="0"/>
                <a:ea typeface="Calibri" pitchFamily="34" charset="-122"/>
                <a:cs typeface="Calibri" pitchFamily="34" charset="-120"/>
              </a:rPr>
              <a:t>rho = 0,385;  p = 0,003</a:t>
            </a:r>
            <a:endParaRPr lang="en-US" sz="1350" dirty="0"/>
          </a:p>
        </p:txBody>
      </p:sp>
      <p:sp>
        <p:nvSpPr>
          <p:cNvPr id="21" name="Shape 19"/>
          <p:cNvSpPr/>
          <p:nvPr/>
        </p:nvSpPr>
        <p:spPr>
          <a:xfrm>
            <a:off x="8275320" y="3977640"/>
            <a:ext cx="3364992" cy="2240280"/>
          </a:xfrm>
          <a:prstGeom prst="roundRect">
            <a:avLst>
              <a:gd name="adj" fmla="val 3265"/>
            </a:avLst>
          </a:prstGeom>
          <a:solidFill>
            <a:srgbClr val="E9F3F6"/>
          </a:solidFill>
          <a:ln/>
        </p:spPr>
      </p:sp>
      <p:sp>
        <p:nvSpPr>
          <p:cNvPr id="22" name="Text 20"/>
          <p:cNvSpPr txBox="1"/>
          <p:nvPr/>
        </p:nvSpPr>
        <p:spPr>
          <a:xfrm>
            <a:off x="8275320" y="3977640"/>
            <a:ext cx="3364992" cy="2240280"/>
          </a:xfrm>
          <a:prstGeom prst="rect">
            <a:avLst/>
          </a:prstGeom>
          <a:noFill/>
          <a:ln/>
        </p:spPr>
        <p:txBody>
          <a:bodyPr wrap="square" lIns="0" tIns="0" rIns="0" bIns="0" rtlCol="0" anchor="ctr"/>
          <a:lstStyle/>
          <a:p>
            <a:pPr algn="ctr" indent="0" marL="0">
              <a:lnSpc>
                <a:spcPct val="120000"/>
              </a:lnSpc>
              <a:buNone/>
            </a:pPr>
            <a:r>
              <a:rPr lang="en-US" sz="2000" b="1" dirty="0">
                <a:solidFill>
                  <a:srgbClr val="1E88A8"/>
                </a:solidFill>
                <a:latin typeface="Cambria" pitchFamily="34" charset="0"/>
                <a:ea typeface="Cambria" pitchFamily="34" charset="-122"/>
                <a:cs typeface="Cambria" pitchFamily="34" charset="-120"/>
              </a:rPr>
              <a:t>H3</a:t>
            </a:r>
            <a:endParaRPr lang="en-US" sz="2000" dirty="0"/>
          </a:p>
          <a:p>
            <a:pPr algn="ctr" indent="0" marL="0">
              <a:lnSpc>
                <a:spcPct val="120000"/>
              </a:lnSpc>
              <a:buNone/>
            </a:pPr>
            <a:r>
              <a:rPr lang="en-US" sz="2000" b="1" dirty="0">
                <a:solidFill>
                  <a:srgbClr val="1E88A8"/>
                </a:solidFill>
                <a:latin typeface="Cambria" pitchFamily="34" charset="0"/>
                <a:ea typeface="Cambria" pitchFamily="34" charset="-122"/>
                <a:cs typeface="Cambria" pitchFamily="34" charset="-120"/>
              </a:rPr>
              <a:t>potwierdzona</a:t>
            </a:r>
            <a:endParaRPr lang="en-US" sz="2000" dirty="0"/>
          </a:p>
        </p:txBody>
      </p:sp>
      <p:sp>
        <p:nvSpPr>
          <p:cNvPr id="23" name="Text 21"/>
          <p:cNvSpPr txBox="1"/>
          <p:nvPr/>
        </p:nvSpPr>
        <p:spPr>
          <a:xfrm>
            <a:off x="11368735" y="6355080"/>
            <a:ext cx="457200" cy="320040"/>
          </a:xfrm>
          <a:prstGeom prst="rect">
            <a:avLst/>
          </a:prstGeom>
          <a:noFill/>
          <a:ln/>
        </p:spPr>
        <p:txBody>
          <a:bodyPr wrap="square" lIns="0" tIns="0" rIns="0" bIns="0" rtlCol="0" anchor="ctr"/>
          <a:lstStyle/>
          <a:p>
            <a:pPr algn="r" indent="0" marL="0">
              <a:buNone/>
            </a:pPr>
            <a:r>
              <a:rPr lang="en-US" sz="1100" dirty="0">
                <a:solidFill>
                  <a:srgbClr val="5B6B7C"/>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A"/>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56032"/>
          </a:xfrm>
          <a:prstGeom prst="rect">
            <a:avLst/>
          </a:prstGeom>
          <a:noFill/>
          <a:ln/>
        </p:spPr>
        <p:txBody>
          <a:bodyPr wrap="square" lIns="0" tIns="0" rIns="0" bIns="0" rtlCol="0" anchor="t"/>
          <a:lstStyle/>
          <a:p>
            <a:pPr indent="0" marL="0">
              <a:buNone/>
            </a:pPr>
            <a:r>
              <a:rPr lang="en-US" sz="1300" b="1" spc="200" kern="0" dirty="0">
                <a:solidFill>
                  <a:srgbClr val="1E88A8"/>
                </a:solidFill>
                <a:latin typeface="Calibri" pitchFamily="34" charset="0"/>
                <a:ea typeface="Calibri" pitchFamily="34" charset="-122"/>
                <a:cs typeface="Calibri" pitchFamily="34" charset="-120"/>
              </a:rPr>
              <a:t>WYNIKI IV</a:t>
            </a:r>
            <a:endParaRPr lang="en-US" sz="1300" dirty="0"/>
          </a:p>
        </p:txBody>
      </p:sp>
      <p:sp>
        <p:nvSpPr>
          <p:cNvPr id="3" name="Text 1"/>
          <p:cNvSpPr txBox="1"/>
          <p:nvPr/>
        </p:nvSpPr>
        <p:spPr>
          <a:xfrm>
            <a:off x="548640" y="749808"/>
            <a:ext cx="11064240" cy="822960"/>
          </a:xfrm>
          <a:prstGeom prst="rect">
            <a:avLst/>
          </a:prstGeom>
          <a:noFill/>
          <a:ln/>
        </p:spPr>
        <p:txBody>
          <a:bodyPr wrap="square" lIns="0" tIns="0" rIns="0" bIns="0" rtlCol="0" anchor="ctr"/>
          <a:lstStyle/>
          <a:p>
            <a:pPr indent="0" marL="0">
              <a:buNone/>
            </a:pPr>
            <a:r>
              <a:rPr lang="en-US" sz="3200" b="1" dirty="0">
                <a:solidFill>
                  <a:srgbClr val="10263E"/>
                </a:solidFill>
                <a:latin typeface="Cambria" pitchFamily="34" charset="0"/>
                <a:ea typeface="Cambria" pitchFamily="34" charset="-122"/>
                <a:cs typeface="Cambria" pitchFamily="34" charset="-120"/>
              </a:rPr>
              <a:t>Paradoks profilaktyki — H4</a:t>
            </a:r>
            <a:endParaRPr lang="en-US" sz="3200" dirty="0"/>
          </a:p>
        </p:txBody>
      </p:sp>
      <p:sp>
        <p:nvSpPr>
          <p:cNvPr id="4" name="Shape 2"/>
          <p:cNvSpPr/>
          <p:nvPr/>
        </p:nvSpPr>
        <p:spPr>
          <a:xfrm>
            <a:off x="548640" y="1737360"/>
            <a:ext cx="3200400" cy="1417320"/>
          </a:xfrm>
          <a:prstGeom prst="roundRect">
            <a:avLst>
              <a:gd name="adj" fmla="val 5161"/>
            </a:avLst>
          </a:prstGeom>
          <a:solidFill>
            <a:srgbClr val="FFFFFF"/>
          </a:solidFill>
          <a:ln/>
          <a:effectLst>
            <a:outerShdw sx="100000" sy="100000" kx="0" ky="0" algn="bl" rotWithShape="0" blurRad="76200" dist="25400" dir="5400000">
              <a:srgbClr val="8AA0B4">
                <a:alpha val="25000"/>
              </a:srgbClr>
            </a:outerShdw>
          </a:effectLst>
        </p:spPr>
      </p:sp>
      <p:sp>
        <p:nvSpPr>
          <p:cNvPr id="5" name="Text 3"/>
          <p:cNvSpPr txBox="1"/>
          <p:nvPr/>
        </p:nvSpPr>
        <p:spPr>
          <a:xfrm>
            <a:off x="685800" y="1847088"/>
            <a:ext cx="2926080" cy="850392"/>
          </a:xfrm>
          <a:prstGeom prst="rect">
            <a:avLst/>
          </a:prstGeom>
          <a:noFill/>
          <a:ln/>
        </p:spPr>
        <p:txBody>
          <a:bodyPr wrap="square" lIns="0" tIns="0" rIns="0" bIns="0" rtlCol="0" anchor="b"/>
          <a:lstStyle/>
          <a:p>
            <a:pPr algn="ctr" indent="0" marL="0">
              <a:buNone/>
            </a:pPr>
            <a:r>
              <a:rPr lang="en-US" sz="3000" b="1" dirty="0">
                <a:solidFill>
                  <a:srgbClr val="10263E"/>
                </a:solidFill>
                <a:latin typeface="Cambria" pitchFamily="34" charset="0"/>
                <a:ea typeface="Cambria" pitchFamily="34" charset="-122"/>
                <a:cs typeface="Cambria" pitchFamily="34" charset="-120"/>
              </a:rPr>
              <a:t>p = 0,913</a:t>
            </a:r>
            <a:endParaRPr lang="en-US" sz="3000" dirty="0"/>
          </a:p>
        </p:txBody>
      </p:sp>
      <p:sp>
        <p:nvSpPr>
          <p:cNvPr id="6" name="Text 4"/>
          <p:cNvSpPr txBox="1"/>
          <p:nvPr/>
        </p:nvSpPr>
        <p:spPr>
          <a:xfrm>
            <a:off x="658368" y="2697480"/>
            <a:ext cx="2980944" cy="384048"/>
          </a:xfrm>
          <a:prstGeom prst="rect">
            <a:avLst/>
          </a:prstGeom>
          <a:noFill/>
          <a:ln/>
        </p:spPr>
        <p:txBody>
          <a:bodyPr wrap="square" lIns="0" tIns="0" rIns="0" bIns="0" rtlCol="0" anchor="t"/>
          <a:lstStyle/>
          <a:p>
            <a:pPr algn="ctr" indent="0" marL="0">
              <a:buNone/>
            </a:pPr>
            <a:r>
              <a:rPr lang="en-US" sz="1050" dirty="0">
                <a:solidFill>
                  <a:srgbClr val="5B6B7C"/>
                </a:solidFill>
                <a:latin typeface="Calibri" pitchFamily="34" charset="0"/>
                <a:ea typeface="Calibri" pitchFamily="34" charset="-122"/>
                <a:cs typeface="Calibri" pitchFamily="34" charset="-120"/>
              </a:rPr>
              <a:t>profilaktyka × liczba urazów</a:t>
            </a:r>
            <a:endParaRPr lang="en-US" sz="1050" dirty="0"/>
          </a:p>
        </p:txBody>
      </p:sp>
      <p:sp>
        <p:nvSpPr>
          <p:cNvPr id="7" name="Shape 5"/>
          <p:cNvSpPr/>
          <p:nvPr/>
        </p:nvSpPr>
        <p:spPr>
          <a:xfrm>
            <a:off x="3977640" y="1737360"/>
            <a:ext cx="3200400" cy="1417320"/>
          </a:xfrm>
          <a:prstGeom prst="roundRect">
            <a:avLst>
              <a:gd name="adj" fmla="val 5161"/>
            </a:avLst>
          </a:prstGeom>
          <a:solidFill>
            <a:srgbClr val="E9F3F6"/>
          </a:solidFill>
          <a:ln/>
        </p:spPr>
      </p:sp>
      <p:sp>
        <p:nvSpPr>
          <p:cNvPr id="8" name="Text 6"/>
          <p:cNvSpPr txBox="1"/>
          <p:nvPr/>
        </p:nvSpPr>
        <p:spPr>
          <a:xfrm>
            <a:off x="3977640" y="1737360"/>
            <a:ext cx="3200400" cy="1417320"/>
          </a:xfrm>
          <a:prstGeom prst="rect">
            <a:avLst/>
          </a:prstGeom>
          <a:noFill/>
          <a:ln/>
        </p:spPr>
        <p:txBody>
          <a:bodyPr wrap="square" lIns="0" tIns="0" rIns="0" bIns="0" rtlCol="0" anchor="ctr"/>
          <a:lstStyle/>
          <a:p>
            <a:pPr algn="ctr" indent="0" marL="0">
              <a:lnSpc>
                <a:spcPct val="115000"/>
              </a:lnSpc>
              <a:buNone/>
            </a:pPr>
            <a:r>
              <a:rPr lang="en-US" sz="1700" b="1" dirty="0">
                <a:solidFill>
                  <a:srgbClr val="1E88A8"/>
                </a:solidFill>
                <a:latin typeface="Cambria" pitchFamily="34" charset="0"/>
                <a:ea typeface="Cambria" pitchFamily="34" charset="-122"/>
                <a:cs typeface="Cambria" pitchFamily="34" charset="-120"/>
              </a:rPr>
              <a:t>H4</a:t>
            </a:r>
            <a:endParaRPr lang="en-US" sz="1700" dirty="0"/>
          </a:p>
          <a:p>
            <a:pPr algn="ctr" indent="0" marL="0">
              <a:lnSpc>
                <a:spcPct val="115000"/>
              </a:lnSpc>
              <a:buNone/>
            </a:pPr>
            <a:r>
              <a:rPr lang="en-US" sz="1700" b="1" dirty="0">
                <a:solidFill>
                  <a:srgbClr val="1E88A8"/>
                </a:solidFill>
                <a:latin typeface="Cambria" pitchFamily="34" charset="0"/>
                <a:ea typeface="Cambria" pitchFamily="34" charset="-122"/>
                <a:cs typeface="Cambria" pitchFamily="34" charset="-120"/>
              </a:rPr>
              <a:t>nie potwierdzona</a:t>
            </a:r>
            <a:endParaRPr lang="en-US" sz="1700" dirty="0"/>
          </a:p>
        </p:txBody>
      </p:sp>
      <p:sp>
        <p:nvSpPr>
          <p:cNvPr id="9" name="Shape 7"/>
          <p:cNvSpPr/>
          <p:nvPr/>
        </p:nvSpPr>
        <p:spPr>
          <a:xfrm>
            <a:off x="7406640" y="1737360"/>
            <a:ext cx="4233672" cy="1417320"/>
          </a:xfrm>
          <a:prstGeom prst="roundRect">
            <a:avLst>
              <a:gd name="adj" fmla="val 5161"/>
            </a:avLst>
          </a:prstGeom>
          <a:solidFill>
            <a:srgbClr val="FFFFFF"/>
          </a:solidFill>
          <a:ln/>
          <a:effectLst>
            <a:outerShdw sx="100000" sy="100000" kx="0" ky="0" algn="bl" rotWithShape="0" blurRad="76200" dist="25400" dir="5400000">
              <a:srgbClr val="8AA0B4">
                <a:alpha val="25000"/>
              </a:srgbClr>
            </a:outerShdw>
          </a:effectLst>
        </p:spPr>
      </p:sp>
      <p:sp>
        <p:nvSpPr>
          <p:cNvPr id="10" name="Text 8"/>
          <p:cNvSpPr txBox="1"/>
          <p:nvPr/>
        </p:nvSpPr>
        <p:spPr>
          <a:xfrm>
            <a:off x="7543800" y="1847088"/>
            <a:ext cx="3959352" cy="850392"/>
          </a:xfrm>
          <a:prstGeom prst="rect">
            <a:avLst/>
          </a:prstGeom>
          <a:noFill/>
          <a:ln/>
        </p:spPr>
        <p:txBody>
          <a:bodyPr wrap="square" lIns="0" tIns="0" rIns="0" bIns="0" rtlCol="0" anchor="b"/>
          <a:lstStyle/>
          <a:p>
            <a:pPr algn="ctr" indent="0" marL="0">
              <a:buNone/>
            </a:pPr>
            <a:r>
              <a:rPr lang="en-US" sz="3000" b="1" dirty="0">
                <a:solidFill>
                  <a:srgbClr val="E8604C"/>
                </a:solidFill>
                <a:latin typeface="Cambria" pitchFamily="34" charset="0"/>
                <a:ea typeface="Cambria" pitchFamily="34" charset="-122"/>
                <a:cs typeface="Cambria" pitchFamily="34" charset="-120"/>
              </a:rPr>
              <a:t>26,9%</a:t>
            </a:r>
            <a:endParaRPr lang="en-US" sz="3000" dirty="0"/>
          </a:p>
        </p:txBody>
      </p:sp>
      <p:sp>
        <p:nvSpPr>
          <p:cNvPr id="11" name="Text 9"/>
          <p:cNvSpPr txBox="1"/>
          <p:nvPr/>
        </p:nvSpPr>
        <p:spPr>
          <a:xfrm>
            <a:off x="7516368" y="2697480"/>
            <a:ext cx="4014216" cy="384048"/>
          </a:xfrm>
          <a:prstGeom prst="rect">
            <a:avLst/>
          </a:prstGeom>
          <a:noFill/>
          <a:ln/>
        </p:spPr>
        <p:txBody>
          <a:bodyPr wrap="square" lIns="0" tIns="0" rIns="0" bIns="0" rtlCol="0" anchor="t"/>
          <a:lstStyle/>
          <a:p>
            <a:pPr algn="ctr" indent="0" marL="0">
              <a:buNone/>
            </a:pPr>
            <a:r>
              <a:rPr lang="en-US" sz="1050" dirty="0">
                <a:solidFill>
                  <a:srgbClr val="5B6B7C"/>
                </a:solidFill>
                <a:latin typeface="Calibri" pitchFamily="34" charset="0"/>
                <a:ea typeface="Calibri" pitchFamily="34" charset="-122"/>
                <a:cs typeface="Calibri" pitchFamily="34" charset="-120"/>
              </a:rPr>
              <a:t>stosuje trening ekscentryczny/izometryczny</a:t>
            </a:r>
            <a:endParaRPr lang="en-US" sz="1050" dirty="0"/>
          </a:p>
        </p:txBody>
      </p:sp>
      <p:sp>
        <p:nvSpPr>
          <p:cNvPr id="12" name="Text 10"/>
          <p:cNvSpPr txBox="1"/>
          <p:nvPr/>
        </p:nvSpPr>
        <p:spPr>
          <a:xfrm>
            <a:off x="548640" y="3429000"/>
            <a:ext cx="7315200" cy="320040"/>
          </a:xfrm>
          <a:prstGeom prst="rect">
            <a:avLst/>
          </a:prstGeom>
          <a:noFill/>
          <a:ln/>
        </p:spPr>
        <p:txBody>
          <a:bodyPr wrap="square" lIns="0" tIns="0" rIns="0" bIns="0" rtlCol="0" anchor="ctr"/>
          <a:lstStyle/>
          <a:p>
            <a:pPr indent="0" marL="0">
              <a:buNone/>
            </a:pPr>
            <a:r>
              <a:rPr lang="en-US" sz="1300" b="1" dirty="0">
                <a:solidFill>
                  <a:srgbClr val="10263E"/>
                </a:solidFill>
                <a:latin typeface="Calibri" pitchFamily="34" charset="0"/>
                <a:ea typeface="Calibri" pitchFamily="34" charset="-122"/>
                <a:cs typeface="Calibri" pitchFamily="34" charset="-120"/>
              </a:rPr>
              <a:t>Charakter deklarowanej profilaktyki klubowej</a:t>
            </a:r>
            <a:endParaRPr lang="en-US" sz="1300" dirty="0"/>
          </a:p>
        </p:txBody>
      </p:sp>
      <p:graphicFrame>
        <p:nvGraphicFramePr>
          <p:cNvPr id="13" name="Chart 0" descr=""/>
          <p:cNvGraphicFramePr/>
          <p:nvPr/>
        </p:nvGraphicFramePr>
        <p:xfrm>
          <a:off x="365760" y="3749040"/>
          <a:ext cx="7040880" cy="2743200"/>
        </p:xfrm>
        <a:graphic xmlns:a="http://schemas.openxmlformats.org/drawingml/2006/main">
          <a:graphicData uri="http://schemas.openxmlformats.org/drawingml/2006/chart">
            <c:chart xmlns:c="http://schemas.openxmlformats.org/drawingml/2006/chart" r:id="rId1"/>
          </a:graphicData>
        </a:graphic>
      </p:graphicFrame>
      <p:sp>
        <p:nvSpPr>
          <p:cNvPr id="14" name="Shape 11"/>
          <p:cNvSpPr/>
          <p:nvPr/>
        </p:nvSpPr>
        <p:spPr>
          <a:xfrm>
            <a:off x="7635240" y="3749040"/>
            <a:ext cx="4005072" cy="2743200"/>
          </a:xfrm>
          <a:prstGeom prst="roundRect">
            <a:avLst>
              <a:gd name="adj" fmla="val 2667"/>
            </a:avLst>
          </a:prstGeom>
          <a:solidFill>
            <a:srgbClr val="10263E"/>
          </a:solidFill>
          <a:ln/>
        </p:spPr>
      </p:sp>
      <p:sp>
        <p:nvSpPr>
          <p:cNvPr id="15" name="Text 12"/>
          <p:cNvSpPr txBox="1"/>
          <p:nvPr/>
        </p:nvSpPr>
        <p:spPr>
          <a:xfrm>
            <a:off x="7863840" y="3931920"/>
            <a:ext cx="3566160" cy="5029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Główna bariera stosowania profilaktyki</a:t>
            </a:r>
            <a:endParaRPr lang="en-US" sz="1300" dirty="0"/>
          </a:p>
        </p:txBody>
      </p:sp>
      <p:sp>
        <p:nvSpPr>
          <p:cNvPr id="16" name="Text 13"/>
          <p:cNvSpPr txBox="1"/>
          <p:nvPr/>
        </p:nvSpPr>
        <p:spPr>
          <a:xfrm>
            <a:off x="7863840" y="4526280"/>
            <a:ext cx="3566160" cy="1737360"/>
          </a:xfrm>
          <a:prstGeom prst="rect">
            <a:avLst/>
          </a:prstGeom>
          <a:noFill/>
          <a:ln/>
        </p:spPr>
        <p:txBody>
          <a:bodyPr wrap="square" lIns="0" tIns="0" rIns="0" bIns="0" rtlCol="0" anchor="ctr"/>
          <a:lstStyle/>
          <a:p>
            <a:pPr indent="0" marL="0">
              <a:buNone/>
            </a:pPr>
            <a:r>
              <a:rPr lang="en-US" sz="1200" dirty="0">
                <a:solidFill>
                  <a:srgbClr val="CFE0EC"/>
                </a:solidFill>
                <a:latin typeface="Calibri" pitchFamily="34" charset="0"/>
                <a:ea typeface="Calibri" pitchFamily="34" charset="-122"/>
                <a:cs typeface="Calibri" pitchFamily="34" charset="-120"/>
              </a:rPr>
              <a:t>Brak czasu
</a:t>
            </a:r>
            <a:pPr indent="0" marL="0">
              <a:buNone/>
            </a:pPr>
            <a:r>
              <a:rPr lang="en-US" sz="2600" b="1" dirty="0">
                <a:solidFill>
                  <a:srgbClr val="FFFFFF"/>
                </a:solidFill>
                <a:latin typeface="Calibri" pitchFamily="34" charset="0"/>
                <a:ea typeface="Calibri" pitchFamily="34" charset="-122"/>
                <a:cs typeface="Calibri" pitchFamily="34" charset="-120"/>
              </a:rPr>
              <a:t>37,7%
</a:t>
            </a:r>
            <a:endParaRPr lang="en-US" sz="1200" dirty="0"/>
          </a:p>
          <a:p>
            <a:pPr indent="0" marL="0">
              <a:buNone/>
            </a:pPr>
            <a:r>
              <a:rPr lang="en-US" sz="1100" i="1" dirty="0">
                <a:solidFill>
                  <a:srgbClr val="9FB4C7"/>
                </a:solidFill>
                <a:latin typeface="Calibri" pitchFamily="34" charset="0"/>
                <a:ea typeface="Calibri" pitchFamily="34" charset="-122"/>
                <a:cs typeface="Calibri" pitchFamily="34" charset="-120"/>
              </a:rPr>
              <a:t>a nie brak przekonania o skuteczności (6,5%)</a:t>
            </a:r>
            <a:endParaRPr lang="en-US" sz="1200" dirty="0"/>
          </a:p>
        </p:txBody>
      </p:sp>
      <p:sp>
        <p:nvSpPr>
          <p:cNvPr id="17" name="Text 14"/>
          <p:cNvSpPr txBox="1"/>
          <p:nvPr/>
        </p:nvSpPr>
        <p:spPr>
          <a:xfrm>
            <a:off x="11368735" y="6355080"/>
            <a:ext cx="457200" cy="320040"/>
          </a:xfrm>
          <a:prstGeom prst="rect">
            <a:avLst/>
          </a:prstGeom>
          <a:noFill/>
          <a:ln/>
        </p:spPr>
        <p:txBody>
          <a:bodyPr wrap="square" lIns="0" tIns="0" rIns="0" bIns="0" rtlCol="0" anchor="ctr"/>
          <a:lstStyle/>
          <a:p>
            <a:pPr algn="r" indent="0" marL="0">
              <a:buNone/>
            </a:pPr>
            <a:r>
              <a:rPr lang="en-US" sz="1100" dirty="0">
                <a:solidFill>
                  <a:srgbClr val="5B6B7C"/>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A"/>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56032"/>
          </a:xfrm>
          <a:prstGeom prst="rect">
            <a:avLst/>
          </a:prstGeom>
          <a:noFill/>
          <a:ln/>
        </p:spPr>
        <p:txBody>
          <a:bodyPr wrap="square" lIns="0" tIns="0" rIns="0" bIns="0" rtlCol="0" anchor="t"/>
          <a:lstStyle/>
          <a:p>
            <a:pPr indent="0" marL="0">
              <a:buNone/>
            </a:pPr>
            <a:r>
              <a:rPr lang="en-US" sz="1300" b="1" spc="200" kern="0" dirty="0">
                <a:solidFill>
                  <a:srgbClr val="1E88A8"/>
                </a:solidFill>
                <a:latin typeface="Calibri" pitchFamily="34" charset="0"/>
                <a:ea typeface="Calibri" pitchFamily="34" charset="-122"/>
                <a:cs typeface="Calibri" pitchFamily="34" charset="-120"/>
              </a:rPr>
              <a:t>WYMIAR APLIKACYJNY</a:t>
            </a:r>
            <a:endParaRPr lang="en-US" sz="1300" dirty="0"/>
          </a:p>
        </p:txBody>
      </p:sp>
      <p:sp>
        <p:nvSpPr>
          <p:cNvPr id="3" name="Text 1"/>
          <p:cNvSpPr txBox="1"/>
          <p:nvPr/>
        </p:nvSpPr>
        <p:spPr>
          <a:xfrm>
            <a:off x="548640" y="749808"/>
            <a:ext cx="11064240" cy="822960"/>
          </a:xfrm>
          <a:prstGeom prst="rect">
            <a:avLst/>
          </a:prstGeom>
          <a:noFill/>
          <a:ln/>
        </p:spPr>
        <p:txBody>
          <a:bodyPr wrap="square" lIns="0" tIns="0" rIns="0" bIns="0" rtlCol="0" anchor="ctr"/>
          <a:lstStyle/>
          <a:p>
            <a:pPr indent="0" marL="0">
              <a:buNone/>
            </a:pPr>
            <a:r>
              <a:rPr lang="en-US" sz="3200" b="1" dirty="0">
                <a:solidFill>
                  <a:srgbClr val="10263E"/>
                </a:solidFill>
                <a:latin typeface="Cambria" pitchFamily="34" charset="0"/>
                <a:ea typeface="Cambria" pitchFamily="34" charset="-122"/>
                <a:cs typeface="Cambria" pitchFamily="34" charset="-120"/>
              </a:rPr>
              <a:t>Modelowe protokoły Return to Play</a:t>
            </a:r>
            <a:endParaRPr lang="en-US" sz="3200" dirty="0"/>
          </a:p>
        </p:txBody>
      </p:sp>
      <p:sp>
        <p:nvSpPr>
          <p:cNvPr id="4" name="Shape 2"/>
          <p:cNvSpPr/>
          <p:nvPr/>
        </p:nvSpPr>
        <p:spPr>
          <a:xfrm>
            <a:off x="548640" y="1737360"/>
            <a:ext cx="3520440" cy="1005840"/>
          </a:xfrm>
          <a:prstGeom prst="roundRect">
            <a:avLst>
              <a:gd name="adj" fmla="val 6364"/>
            </a:avLst>
          </a:prstGeom>
          <a:solidFill>
            <a:srgbClr val="10263E"/>
          </a:solidFill>
          <a:ln/>
        </p:spPr>
      </p:sp>
      <p:sp>
        <p:nvSpPr>
          <p:cNvPr id="5" name="Text 3"/>
          <p:cNvSpPr txBox="1"/>
          <p:nvPr/>
        </p:nvSpPr>
        <p:spPr>
          <a:xfrm>
            <a:off x="685800" y="1737360"/>
            <a:ext cx="3246120" cy="1005840"/>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Calibri" pitchFamily="34" charset="0"/>
                <a:ea typeface="Calibri" pitchFamily="34" charset="-122"/>
                <a:cs typeface="Calibri" pitchFamily="34" charset="-120"/>
              </a:rPr>
              <a:t>Staw skokowy</a:t>
            </a:r>
            <a:endParaRPr lang="en-US" sz="1400" dirty="0"/>
          </a:p>
          <a:p>
            <a:pPr algn="ctr" indent="0" marL="0">
              <a:lnSpc>
                <a:spcPct val="110000"/>
              </a:lnSpc>
              <a:buNone/>
            </a:pPr>
            <a:r>
              <a:rPr lang="en-US" sz="1400" b="1" dirty="0">
                <a:solidFill>
                  <a:srgbClr val="FFFFFF"/>
                </a:solidFill>
                <a:latin typeface="Calibri" pitchFamily="34" charset="0"/>
                <a:ea typeface="Calibri" pitchFamily="34" charset="-122"/>
                <a:cs typeface="Calibri" pitchFamily="34" charset="-120"/>
              </a:rPr>
              <a:t>(skręcenie inwersyjne)</a:t>
            </a:r>
            <a:endParaRPr lang="en-US" sz="1400" dirty="0"/>
          </a:p>
        </p:txBody>
      </p:sp>
      <p:sp>
        <p:nvSpPr>
          <p:cNvPr id="6" name="Shape 4"/>
          <p:cNvSpPr/>
          <p:nvPr/>
        </p:nvSpPr>
        <p:spPr>
          <a:xfrm>
            <a:off x="4297680" y="1737360"/>
            <a:ext cx="3520440" cy="1005840"/>
          </a:xfrm>
          <a:prstGeom prst="roundRect">
            <a:avLst>
              <a:gd name="adj" fmla="val 6364"/>
            </a:avLst>
          </a:prstGeom>
          <a:solidFill>
            <a:srgbClr val="10263E"/>
          </a:solidFill>
          <a:ln/>
        </p:spPr>
      </p:sp>
      <p:sp>
        <p:nvSpPr>
          <p:cNvPr id="7" name="Text 5"/>
          <p:cNvSpPr txBox="1"/>
          <p:nvPr/>
        </p:nvSpPr>
        <p:spPr>
          <a:xfrm>
            <a:off x="4434840" y="1737360"/>
            <a:ext cx="3246120" cy="1005840"/>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Calibri" pitchFamily="34" charset="0"/>
                <a:ea typeface="Calibri" pitchFamily="34" charset="-122"/>
                <a:cs typeface="Calibri" pitchFamily="34" charset="-120"/>
              </a:rPr>
              <a:t>Staw kolanowy</a:t>
            </a:r>
            <a:endParaRPr lang="en-US" sz="1400" dirty="0"/>
          </a:p>
          <a:p>
            <a:pPr algn="ctr" indent="0" marL="0">
              <a:lnSpc>
                <a:spcPct val="110000"/>
              </a:lnSpc>
              <a:buNone/>
            </a:pPr>
            <a:r>
              <a:rPr lang="en-US" sz="1400" b="1" dirty="0">
                <a:solidFill>
                  <a:srgbClr val="FFFFFF"/>
                </a:solidFill>
                <a:latin typeface="Calibri" pitchFamily="34" charset="0"/>
                <a:ea typeface="Calibri" pitchFamily="34" charset="-122"/>
                <a:cs typeface="Calibri" pitchFamily="34" charset="-120"/>
              </a:rPr>
              <a:t>(po rekonstrukcji ACL)</a:t>
            </a:r>
            <a:endParaRPr lang="en-US" sz="1400" dirty="0"/>
          </a:p>
        </p:txBody>
      </p:sp>
      <p:sp>
        <p:nvSpPr>
          <p:cNvPr id="8" name="Shape 6"/>
          <p:cNvSpPr/>
          <p:nvPr/>
        </p:nvSpPr>
        <p:spPr>
          <a:xfrm>
            <a:off x="8046720" y="1737360"/>
            <a:ext cx="3520440" cy="1005840"/>
          </a:xfrm>
          <a:prstGeom prst="roundRect">
            <a:avLst>
              <a:gd name="adj" fmla="val 6364"/>
            </a:avLst>
          </a:prstGeom>
          <a:solidFill>
            <a:srgbClr val="10263E"/>
          </a:solidFill>
          <a:ln/>
        </p:spPr>
      </p:sp>
      <p:sp>
        <p:nvSpPr>
          <p:cNvPr id="9" name="Text 7"/>
          <p:cNvSpPr txBox="1"/>
          <p:nvPr/>
        </p:nvSpPr>
        <p:spPr>
          <a:xfrm>
            <a:off x="8183880" y="1737360"/>
            <a:ext cx="3246120" cy="1005840"/>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Calibri" pitchFamily="34" charset="0"/>
                <a:ea typeface="Calibri" pitchFamily="34" charset="-122"/>
                <a:cs typeface="Calibri" pitchFamily="34" charset="-120"/>
              </a:rPr>
              <a:t>Mięśnie</a:t>
            </a:r>
            <a:endParaRPr lang="en-US" sz="1400" dirty="0"/>
          </a:p>
          <a:p>
            <a:pPr algn="ctr" indent="0" marL="0">
              <a:lnSpc>
                <a:spcPct val="110000"/>
              </a:lnSpc>
              <a:buNone/>
            </a:pPr>
            <a:r>
              <a:rPr lang="en-US" sz="1400" b="1" dirty="0">
                <a:solidFill>
                  <a:srgbClr val="FFFFFF"/>
                </a:solidFill>
                <a:latin typeface="Calibri" pitchFamily="34" charset="0"/>
                <a:ea typeface="Calibri" pitchFamily="34" charset="-122"/>
                <a:cs typeface="Calibri" pitchFamily="34" charset="-120"/>
              </a:rPr>
              <a:t>kulszowo-goleniowe</a:t>
            </a:r>
            <a:endParaRPr lang="en-US" sz="1400" dirty="0"/>
          </a:p>
        </p:txBody>
      </p:sp>
      <p:sp>
        <p:nvSpPr>
          <p:cNvPr id="10" name="Text 8"/>
          <p:cNvSpPr txBox="1"/>
          <p:nvPr/>
        </p:nvSpPr>
        <p:spPr>
          <a:xfrm>
            <a:off x="548640" y="2926080"/>
            <a:ext cx="11064240" cy="365760"/>
          </a:xfrm>
          <a:prstGeom prst="rect">
            <a:avLst/>
          </a:prstGeom>
          <a:noFill/>
          <a:ln/>
        </p:spPr>
        <p:txBody>
          <a:bodyPr wrap="square" lIns="0" tIns="0" rIns="0" bIns="0" rtlCol="0" anchor="ctr"/>
          <a:lstStyle/>
          <a:p>
            <a:pPr algn="ctr" indent="0" marL="0">
              <a:buNone/>
            </a:pPr>
            <a:r>
              <a:rPr lang="en-US" sz="1350" i="1" dirty="0">
                <a:solidFill>
                  <a:srgbClr val="5B6B7C"/>
                </a:solidFill>
                <a:latin typeface="Calibri" pitchFamily="34" charset="0"/>
                <a:ea typeface="Calibri" pitchFamily="34" charset="-122"/>
                <a:cs typeface="Calibri" pitchFamily="34" charset="-120"/>
              </a:rPr>
              <a:t>Wspólna zasada: criteria-based Return to Play — 4 fazy sterowane kryteriami, nie czasem od urazu</a:t>
            </a:r>
            <a:endParaRPr lang="en-US" sz="1350" dirty="0"/>
          </a:p>
        </p:txBody>
      </p:sp>
      <p:sp>
        <p:nvSpPr>
          <p:cNvPr id="11" name="Shape 9"/>
          <p:cNvSpPr/>
          <p:nvPr/>
        </p:nvSpPr>
        <p:spPr>
          <a:xfrm>
            <a:off x="1600200" y="3429000"/>
            <a:ext cx="548640" cy="548640"/>
          </a:xfrm>
          <a:prstGeom prst="ellipse">
            <a:avLst/>
          </a:prstGeom>
          <a:solidFill>
            <a:srgbClr val="1E88A8"/>
          </a:solidFill>
          <a:ln/>
        </p:spPr>
      </p:sp>
      <p:sp>
        <p:nvSpPr>
          <p:cNvPr id="12" name="Text 10"/>
          <p:cNvSpPr txBox="1"/>
          <p:nvPr/>
        </p:nvSpPr>
        <p:spPr>
          <a:xfrm>
            <a:off x="1600200" y="3429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3" name="Text 11"/>
          <p:cNvSpPr txBox="1"/>
          <p:nvPr/>
        </p:nvSpPr>
        <p:spPr>
          <a:xfrm>
            <a:off x="548640" y="4114800"/>
            <a:ext cx="2651760" cy="822960"/>
          </a:xfrm>
          <a:prstGeom prst="rect">
            <a:avLst/>
          </a:prstGeom>
          <a:noFill/>
          <a:ln/>
        </p:spPr>
        <p:txBody>
          <a:bodyPr wrap="square" lIns="0" tIns="0" rIns="0" bIns="0" rtlCol="0" anchor="ctr"/>
          <a:lstStyle/>
          <a:p>
            <a:pPr algn="ctr" indent="0" marL="0">
              <a:lnSpc>
                <a:spcPct val="105000"/>
              </a:lnSpc>
              <a:buNone/>
            </a:pPr>
            <a:r>
              <a:rPr lang="en-US" sz="1150" dirty="0">
                <a:solidFill>
                  <a:srgbClr val="1B2A3A"/>
                </a:solidFill>
                <a:latin typeface="Calibri" pitchFamily="34" charset="0"/>
                <a:ea typeface="Calibri" pitchFamily="34" charset="-122"/>
                <a:cs typeface="Calibri" pitchFamily="34" charset="-120"/>
              </a:rPr>
              <a:t>I. Ochrona i kontrola stanu zapalnego</a:t>
            </a:r>
            <a:endParaRPr lang="en-US" sz="1150" dirty="0"/>
          </a:p>
        </p:txBody>
      </p:sp>
      <p:sp>
        <p:nvSpPr>
          <p:cNvPr id="14" name="Shape 12"/>
          <p:cNvSpPr/>
          <p:nvPr/>
        </p:nvSpPr>
        <p:spPr>
          <a:xfrm>
            <a:off x="3200400" y="3703320"/>
            <a:ext cx="137160" cy="0"/>
          </a:xfrm>
          <a:prstGeom prst="line">
            <a:avLst/>
          </a:prstGeom>
          <a:noFill/>
          <a:ln w="19050">
            <a:solidFill>
              <a:srgbClr val="1E88A8"/>
            </a:solidFill>
            <a:prstDash val="dash"/>
          </a:ln>
        </p:spPr>
      </p:sp>
      <p:sp>
        <p:nvSpPr>
          <p:cNvPr id="15" name="Shape 13"/>
          <p:cNvSpPr/>
          <p:nvPr/>
        </p:nvSpPr>
        <p:spPr>
          <a:xfrm>
            <a:off x="4389120" y="3429000"/>
            <a:ext cx="548640" cy="548640"/>
          </a:xfrm>
          <a:prstGeom prst="ellipse">
            <a:avLst/>
          </a:prstGeom>
          <a:solidFill>
            <a:srgbClr val="1E88A8"/>
          </a:solidFill>
          <a:ln/>
        </p:spPr>
      </p:sp>
      <p:sp>
        <p:nvSpPr>
          <p:cNvPr id="16" name="Text 14"/>
          <p:cNvSpPr txBox="1"/>
          <p:nvPr/>
        </p:nvSpPr>
        <p:spPr>
          <a:xfrm>
            <a:off x="4389120" y="3429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7" name="Text 15"/>
          <p:cNvSpPr txBox="1"/>
          <p:nvPr/>
        </p:nvSpPr>
        <p:spPr>
          <a:xfrm>
            <a:off x="3337560" y="4114800"/>
            <a:ext cx="2651760" cy="822960"/>
          </a:xfrm>
          <a:prstGeom prst="rect">
            <a:avLst/>
          </a:prstGeom>
          <a:noFill/>
          <a:ln/>
        </p:spPr>
        <p:txBody>
          <a:bodyPr wrap="square" lIns="0" tIns="0" rIns="0" bIns="0" rtlCol="0" anchor="ctr"/>
          <a:lstStyle/>
          <a:p>
            <a:pPr algn="ctr" indent="0" marL="0">
              <a:lnSpc>
                <a:spcPct val="105000"/>
              </a:lnSpc>
              <a:buNone/>
            </a:pPr>
            <a:r>
              <a:rPr lang="en-US" sz="1150" dirty="0">
                <a:solidFill>
                  <a:srgbClr val="1B2A3A"/>
                </a:solidFill>
                <a:latin typeface="Calibri" pitchFamily="34" charset="0"/>
                <a:ea typeface="Calibri" pitchFamily="34" charset="-122"/>
                <a:cs typeface="Calibri" pitchFamily="34" charset="-120"/>
              </a:rPr>
              <a:t>II. Odbudowa strukturalna i funkcjonalna</a:t>
            </a:r>
            <a:endParaRPr lang="en-US" sz="1150" dirty="0"/>
          </a:p>
        </p:txBody>
      </p:sp>
      <p:sp>
        <p:nvSpPr>
          <p:cNvPr id="18" name="Shape 16"/>
          <p:cNvSpPr/>
          <p:nvPr/>
        </p:nvSpPr>
        <p:spPr>
          <a:xfrm>
            <a:off x="5989320" y="3703320"/>
            <a:ext cx="137160" cy="0"/>
          </a:xfrm>
          <a:prstGeom prst="line">
            <a:avLst/>
          </a:prstGeom>
          <a:noFill/>
          <a:ln w="19050">
            <a:solidFill>
              <a:srgbClr val="1E88A8"/>
            </a:solidFill>
            <a:prstDash val="dash"/>
          </a:ln>
        </p:spPr>
      </p:sp>
      <p:sp>
        <p:nvSpPr>
          <p:cNvPr id="19" name="Shape 17"/>
          <p:cNvSpPr/>
          <p:nvPr/>
        </p:nvSpPr>
        <p:spPr>
          <a:xfrm>
            <a:off x="7178040" y="3429000"/>
            <a:ext cx="548640" cy="548640"/>
          </a:xfrm>
          <a:prstGeom prst="ellipse">
            <a:avLst/>
          </a:prstGeom>
          <a:solidFill>
            <a:srgbClr val="1E88A8"/>
          </a:solidFill>
          <a:ln/>
        </p:spPr>
      </p:sp>
      <p:sp>
        <p:nvSpPr>
          <p:cNvPr id="20" name="Text 18"/>
          <p:cNvSpPr txBox="1"/>
          <p:nvPr/>
        </p:nvSpPr>
        <p:spPr>
          <a:xfrm>
            <a:off x="7178040" y="3429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1" name="Text 19"/>
          <p:cNvSpPr txBox="1"/>
          <p:nvPr/>
        </p:nvSpPr>
        <p:spPr>
          <a:xfrm>
            <a:off x="6126480" y="4114800"/>
            <a:ext cx="2651760" cy="822960"/>
          </a:xfrm>
          <a:prstGeom prst="rect">
            <a:avLst/>
          </a:prstGeom>
          <a:noFill/>
          <a:ln/>
        </p:spPr>
        <p:txBody>
          <a:bodyPr wrap="square" lIns="0" tIns="0" rIns="0" bIns="0" rtlCol="0" anchor="ctr"/>
          <a:lstStyle/>
          <a:p>
            <a:pPr algn="ctr" indent="0" marL="0">
              <a:lnSpc>
                <a:spcPct val="105000"/>
              </a:lnSpc>
              <a:buNone/>
            </a:pPr>
            <a:r>
              <a:rPr lang="en-US" sz="1150" dirty="0">
                <a:solidFill>
                  <a:srgbClr val="1B2A3A"/>
                </a:solidFill>
                <a:latin typeface="Calibri" pitchFamily="34" charset="0"/>
                <a:ea typeface="Calibri" pitchFamily="34" charset="-122"/>
                <a:cs typeface="Calibri" pitchFamily="34" charset="-120"/>
              </a:rPr>
              <a:t>III. Return to Train</a:t>
            </a:r>
            <a:endParaRPr lang="en-US" sz="1150" dirty="0"/>
          </a:p>
        </p:txBody>
      </p:sp>
      <p:sp>
        <p:nvSpPr>
          <p:cNvPr id="22" name="Shape 20"/>
          <p:cNvSpPr/>
          <p:nvPr/>
        </p:nvSpPr>
        <p:spPr>
          <a:xfrm>
            <a:off x="8778240" y="3703320"/>
            <a:ext cx="137160" cy="0"/>
          </a:xfrm>
          <a:prstGeom prst="line">
            <a:avLst/>
          </a:prstGeom>
          <a:noFill/>
          <a:ln w="19050">
            <a:solidFill>
              <a:srgbClr val="1E88A8"/>
            </a:solidFill>
            <a:prstDash val="dash"/>
          </a:ln>
        </p:spPr>
      </p:sp>
      <p:sp>
        <p:nvSpPr>
          <p:cNvPr id="23" name="Shape 21"/>
          <p:cNvSpPr/>
          <p:nvPr/>
        </p:nvSpPr>
        <p:spPr>
          <a:xfrm>
            <a:off x="9966960" y="3429000"/>
            <a:ext cx="548640" cy="548640"/>
          </a:xfrm>
          <a:prstGeom prst="ellipse">
            <a:avLst/>
          </a:prstGeom>
          <a:solidFill>
            <a:srgbClr val="1E88A8"/>
          </a:solidFill>
          <a:ln/>
        </p:spPr>
      </p:sp>
      <p:sp>
        <p:nvSpPr>
          <p:cNvPr id="24" name="Text 22"/>
          <p:cNvSpPr txBox="1"/>
          <p:nvPr/>
        </p:nvSpPr>
        <p:spPr>
          <a:xfrm>
            <a:off x="9966960" y="3429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5" name="Text 23"/>
          <p:cNvSpPr txBox="1"/>
          <p:nvPr/>
        </p:nvSpPr>
        <p:spPr>
          <a:xfrm>
            <a:off x="8915400" y="4114800"/>
            <a:ext cx="2651760" cy="822960"/>
          </a:xfrm>
          <a:prstGeom prst="rect">
            <a:avLst/>
          </a:prstGeom>
          <a:noFill/>
          <a:ln/>
        </p:spPr>
        <p:txBody>
          <a:bodyPr wrap="square" lIns="0" tIns="0" rIns="0" bIns="0" rtlCol="0" anchor="ctr"/>
          <a:lstStyle/>
          <a:p>
            <a:pPr algn="ctr" indent="0" marL="0">
              <a:lnSpc>
                <a:spcPct val="105000"/>
              </a:lnSpc>
              <a:buNone/>
            </a:pPr>
            <a:r>
              <a:rPr lang="en-US" sz="1150" dirty="0">
                <a:solidFill>
                  <a:srgbClr val="1B2A3A"/>
                </a:solidFill>
                <a:latin typeface="Calibri" pitchFamily="34" charset="0"/>
                <a:ea typeface="Calibri" pitchFamily="34" charset="-122"/>
                <a:cs typeface="Calibri" pitchFamily="34" charset="-120"/>
              </a:rPr>
              <a:t>IV. Obiektywne kryteria powrotu</a:t>
            </a:r>
            <a:endParaRPr lang="en-US" sz="1150" dirty="0"/>
          </a:p>
        </p:txBody>
      </p:sp>
      <p:sp>
        <p:nvSpPr>
          <p:cNvPr id="26" name="Shape 24"/>
          <p:cNvSpPr/>
          <p:nvPr/>
        </p:nvSpPr>
        <p:spPr>
          <a:xfrm>
            <a:off x="548640" y="5166360"/>
            <a:ext cx="7452360" cy="1234440"/>
          </a:xfrm>
          <a:prstGeom prst="roundRect">
            <a:avLst>
              <a:gd name="adj" fmla="val 5926"/>
            </a:avLst>
          </a:prstGeom>
          <a:solidFill>
            <a:srgbClr val="E9F3F6"/>
          </a:solidFill>
          <a:ln/>
        </p:spPr>
      </p:sp>
      <p:sp>
        <p:nvSpPr>
          <p:cNvPr id="27" name="Text 25"/>
          <p:cNvSpPr txBox="1"/>
          <p:nvPr/>
        </p:nvSpPr>
        <p:spPr>
          <a:xfrm>
            <a:off x="777240" y="5166360"/>
            <a:ext cx="7040880" cy="1234440"/>
          </a:xfrm>
          <a:prstGeom prst="rect">
            <a:avLst/>
          </a:prstGeom>
          <a:noFill/>
          <a:ln/>
        </p:spPr>
        <p:txBody>
          <a:bodyPr wrap="square" lIns="0" tIns="0" rIns="0" bIns="0" rtlCol="0" anchor="ctr"/>
          <a:lstStyle/>
          <a:p>
            <a:pPr indent="0" marL="0">
              <a:lnSpc>
                <a:spcPct val="120000"/>
              </a:lnSpc>
              <a:buNone/>
            </a:pPr>
            <a:r>
              <a:rPr lang="en-US" sz="1250" dirty="0">
                <a:solidFill>
                  <a:srgbClr val="10263E"/>
                </a:solidFill>
                <a:latin typeface="Calibri" pitchFamily="34" charset="0"/>
                <a:ea typeface="Calibri" pitchFamily="34" charset="-122"/>
                <a:cs typeface="Calibri" pitchFamily="34" charset="-120"/>
              </a:rPr>
              <a:t>Kryteria obiektywne: LSI ≥ 90%  •  testy skoku jednonóż  •  test Y-Balance  •  Skala Kinezjofobii Tampa  •  ACL-RSI</a:t>
            </a:r>
            <a:endParaRPr lang="en-US" sz="1250" dirty="0"/>
          </a:p>
        </p:txBody>
      </p:sp>
      <p:sp>
        <p:nvSpPr>
          <p:cNvPr id="28" name="Shape 26"/>
          <p:cNvSpPr/>
          <p:nvPr/>
        </p:nvSpPr>
        <p:spPr>
          <a:xfrm>
            <a:off x="8229600" y="5166360"/>
            <a:ext cx="3410712" cy="1234440"/>
          </a:xfrm>
          <a:prstGeom prst="roundRect">
            <a:avLst>
              <a:gd name="adj" fmla="val 5926"/>
            </a:avLst>
          </a:prstGeom>
          <a:solidFill>
            <a:srgbClr val="FFFFFF"/>
          </a:solidFill>
          <a:ln/>
          <a:effectLst>
            <a:outerShdw sx="100000" sy="100000" kx="0" ky="0" algn="bl" rotWithShape="0" blurRad="76200" dist="25400" dir="5400000">
              <a:srgbClr val="8AA0B4">
                <a:alpha val="25000"/>
              </a:srgbClr>
            </a:outerShdw>
          </a:effectLst>
        </p:spPr>
      </p:sp>
      <p:sp>
        <p:nvSpPr>
          <p:cNvPr id="29" name="Text 27"/>
          <p:cNvSpPr txBox="1"/>
          <p:nvPr/>
        </p:nvSpPr>
        <p:spPr>
          <a:xfrm>
            <a:off x="8366760" y="5276088"/>
            <a:ext cx="3136392" cy="667512"/>
          </a:xfrm>
          <a:prstGeom prst="rect">
            <a:avLst/>
          </a:prstGeom>
          <a:noFill/>
          <a:ln/>
        </p:spPr>
        <p:txBody>
          <a:bodyPr wrap="square" lIns="0" tIns="0" rIns="0" bIns="0" rtlCol="0" anchor="b"/>
          <a:lstStyle/>
          <a:p>
            <a:pPr algn="ctr" indent="0" marL="0">
              <a:buNone/>
            </a:pPr>
            <a:r>
              <a:rPr lang="en-US" sz="2600" b="1" dirty="0">
                <a:solidFill>
                  <a:srgbClr val="E8604C"/>
                </a:solidFill>
                <a:latin typeface="Cambria" pitchFamily="34" charset="0"/>
                <a:ea typeface="Cambria" pitchFamily="34" charset="-122"/>
                <a:cs typeface="Cambria" pitchFamily="34" charset="-120"/>
              </a:rPr>
              <a:t>do 84%</a:t>
            </a:r>
            <a:endParaRPr lang="en-US" sz="2600" dirty="0"/>
          </a:p>
        </p:txBody>
      </p:sp>
      <p:sp>
        <p:nvSpPr>
          <p:cNvPr id="30" name="Text 28"/>
          <p:cNvSpPr txBox="1"/>
          <p:nvPr/>
        </p:nvSpPr>
        <p:spPr>
          <a:xfrm>
            <a:off x="8339328" y="5943600"/>
            <a:ext cx="3191256" cy="384048"/>
          </a:xfrm>
          <a:prstGeom prst="rect">
            <a:avLst/>
          </a:prstGeom>
          <a:noFill/>
          <a:ln/>
        </p:spPr>
        <p:txBody>
          <a:bodyPr wrap="square" lIns="0" tIns="0" rIns="0" bIns="0" rtlCol="0" anchor="t"/>
          <a:lstStyle/>
          <a:p>
            <a:pPr algn="ctr" indent="0" marL="0">
              <a:buNone/>
            </a:pPr>
            <a:r>
              <a:rPr lang="en-US" sz="1050" dirty="0">
                <a:solidFill>
                  <a:srgbClr val="5B6B7C"/>
                </a:solidFill>
                <a:latin typeface="Calibri" pitchFamily="34" charset="0"/>
                <a:ea typeface="Calibri" pitchFamily="34" charset="-122"/>
                <a:cs typeface="Calibri" pitchFamily="34" charset="-120"/>
              </a:rPr>
              <a:t>redukcja ryzyka reurazu</a:t>
            </a:r>
            <a:endParaRPr lang="en-US" sz="1050" dirty="0"/>
          </a:p>
        </p:txBody>
      </p:sp>
      <p:sp>
        <p:nvSpPr>
          <p:cNvPr id="31" name="Text 29"/>
          <p:cNvSpPr txBox="1"/>
          <p:nvPr/>
        </p:nvSpPr>
        <p:spPr>
          <a:xfrm>
            <a:off x="11368735" y="6355080"/>
            <a:ext cx="457200" cy="320040"/>
          </a:xfrm>
          <a:prstGeom prst="rect">
            <a:avLst/>
          </a:prstGeom>
          <a:noFill/>
          <a:ln/>
        </p:spPr>
        <p:txBody>
          <a:bodyPr wrap="square" lIns="0" tIns="0" rIns="0" bIns="0" rtlCol="0" anchor="ctr"/>
          <a:lstStyle/>
          <a:p>
            <a:pPr algn="r" indent="0" marL="0">
              <a:buNone/>
            </a:pPr>
            <a:r>
              <a:rPr lang="en-US" sz="1100" dirty="0">
                <a:solidFill>
                  <a:srgbClr val="5B6B7C"/>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A"/>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56032"/>
          </a:xfrm>
          <a:prstGeom prst="rect">
            <a:avLst/>
          </a:prstGeom>
          <a:noFill/>
          <a:ln/>
        </p:spPr>
        <p:txBody>
          <a:bodyPr wrap="square" lIns="0" tIns="0" rIns="0" bIns="0" rtlCol="0" anchor="t"/>
          <a:lstStyle/>
          <a:p>
            <a:pPr indent="0" marL="0">
              <a:buNone/>
            </a:pPr>
            <a:r>
              <a:rPr lang="en-US" sz="1300" b="1" spc="200" kern="0" dirty="0">
                <a:solidFill>
                  <a:srgbClr val="1E88A8"/>
                </a:solidFill>
                <a:latin typeface="Calibri" pitchFamily="34" charset="0"/>
                <a:ea typeface="Calibri" pitchFamily="34" charset="-122"/>
                <a:cs typeface="Calibri" pitchFamily="34" charset="-120"/>
              </a:rPr>
              <a:t>DYSKUSJA</a:t>
            </a:r>
            <a:endParaRPr lang="en-US" sz="1300" dirty="0"/>
          </a:p>
        </p:txBody>
      </p:sp>
      <p:sp>
        <p:nvSpPr>
          <p:cNvPr id="3" name="Text 1"/>
          <p:cNvSpPr txBox="1"/>
          <p:nvPr/>
        </p:nvSpPr>
        <p:spPr>
          <a:xfrm>
            <a:off x="548640" y="749808"/>
            <a:ext cx="11064240" cy="822960"/>
          </a:xfrm>
          <a:prstGeom prst="rect">
            <a:avLst/>
          </a:prstGeom>
          <a:noFill/>
          <a:ln/>
        </p:spPr>
        <p:txBody>
          <a:bodyPr wrap="square" lIns="0" tIns="0" rIns="0" bIns="0" rtlCol="0" anchor="ctr"/>
          <a:lstStyle/>
          <a:p>
            <a:pPr indent="0" marL="0">
              <a:buNone/>
            </a:pPr>
            <a:r>
              <a:rPr lang="en-US" sz="3200" b="1" dirty="0">
                <a:solidFill>
                  <a:srgbClr val="10263E"/>
                </a:solidFill>
                <a:latin typeface="Cambria" pitchFamily="34" charset="0"/>
                <a:ea typeface="Cambria" pitchFamily="34" charset="-122"/>
                <a:cs typeface="Cambria" pitchFamily="34" charset="-120"/>
              </a:rPr>
              <a:t>Konfrontacja z literaturą i ograniczenia</a:t>
            </a:r>
            <a:endParaRPr lang="en-US" sz="3200" dirty="0"/>
          </a:p>
        </p:txBody>
      </p:sp>
      <p:sp>
        <p:nvSpPr>
          <p:cNvPr id="4" name="Shape 2"/>
          <p:cNvSpPr/>
          <p:nvPr/>
        </p:nvSpPr>
        <p:spPr>
          <a:xfrm>
            <a:off x="548640" y="1783080"/>
            <a:ext cx="5394960" cy="4434840"/>
          </a:xfrm>
          <a:prstGeom prst="roundRect">
            <a:avLst>
              <a:gd name="adj" fmla="val 1649"/>
            </a:avLst>
          </a:prstGeom>
          <a:solidFill>
            <a:srgbClr val="E9F3F6"/>
          </a:solidFill>
          <a:ln/>
        </p:spPr>
      </p:sp>
      <p:sp>
        <p:nvSpPr>
          <p:cNvPr id="5" name="Text 3"/>
          <p:cNvSpPr txBox="1"/>
          <p:nvPr/>
        </p:nvSpPr>
        <p:spPr>
          <a:xfrm>
            <a:off x="822960" y="2011680"/>
            <a:ext cx="4846320" cy="365760"/>
          </a:xfrm>
          <a:prstGeom prst="rect">
            <a:avLst/>
          </a:prstGeom>
          <a:noFill/>
          <a:ln/>
        </p:spPr>
        <p:txBody>
          <a:bodyPr wrap="square" lIns="0" tIns="0" rIns="0" bIns="0" rtlCol="0" anchor="ctr"/>
          <a:lstStyle/>
          <a:p>
            <a:pPr indent="0" marL="0">
              <a:buNone/>
            </a:pPr>
            <a:r>
              <a:rPr lang="en-US" sz="1600" b="1" dirty="0">
                <a:solidFill>
                  <a:srgbClr val="1E88A8"/>
                </a:solidFill>
                <a:latin typeface="Cambria" pitchFamily="34" charset="0"/>
                <a:ea typeface="Cambria" pitchFamily="34" charset="-122"/>
                <a:cs typeface="Cambria" pitchFamily="34" charset="-120"/>
              </a:rPr>
              <a:t>Zbieżność z literaturą</a:t>
            </a:r>
            <a:endParaRPr lang="en-US" sz="1600" dirty="0"/>
          </a:p>
        </p:txBody>
      </p:sp>
      <p:sp>
        <p:nvSpPr>
          <p:cNvPr id="6" name="Text 4"/>
          <p:cNvSpPr txBox="1"/>
          <p:nvPr/>
        </p:nvSpPr>
        <p:spPr>
          <a:xfrm>
            <a:off x="822960" y="2514600"/>
            <a:ext cx="4846320" cy="3566160"/>
          </a:xfrm>
          <a:prstGeom prst="rect">
            <a:avLst/>
          </a:prstGeom>
          <a:noFill/>
          <a:ln/>
        </p:spPr>
        <p:txBody>
          <a:bodyPr wrap="square" lIns="0" tIns="0" rIns="0" bIns="0" rtlCol="0" anchor="t"/>
          <a:lstStyle/>
          <a:p>
            <a:pPr marL="342900" indent="-342900">
              <a:spcAft>
                <a:spcPts val="1200"/>
              </a:spcAft>
              <a:buSzPct val="100000"/>
              <a:buChar char="▪"/>
            </a:pPr>
            <a:r>
              <a:rPr lang="en-US" sz="1350" dirty="0">
                <a:solidFill>
                  <a:srgbClr val="1B2A3A"/>
                </a:solidFill>
                <a:latin typeface="Calibri" pitchFamily="34" charset="0"/>
                <a:ea typeface="Calibri" pitchFamily="34" charset="-122"/>
                <a:cs typeface="Calibri" pitchFamily="34" charset="-120"/>
              </a:rPr>
              <a:t>Dominacja urazów stawu skokowego i kolanowego zgodna z UEFA Injury Study</a:t>
            </a:r>
            <a:endParaRPr lang="en-US" sz="1350" dirty="0"/>
          </a:p>
          <a:p>
            <a:pPr marL="342900" indent="-342900">
              <a:spcAft>
                <a:spcPts val="1200"/>
              </a:spcAft>
              <a:buSzPct val="100000"/>
              <a:buChar char="▪"/>
            </a:pPr>
            <a:r>
              <a:rPr lang="en-US" sz="1350" dirty="0">
                <a:solidFill>
                  <a:srgbClr val="1B2A3A"/>
                </a:solidFill>
                <a:latin typeface="Calibri" pitchFamily="34" charset="0"/>
                <a:ea typeface="Calibri" pitchFamily="34" charset="-122"/>
                <a:cs typeface="Calibri" pitchFamily="34" charset="-120"/>
              </a:rPr>
              <a:t>Zbieżność mimo odmiennej metodologii i poziomu sportowego próby</a:t>
            </a:r>
            <a:endParaRPr lang="en-US" sz="1350" dirty="0"/>
          </a:p>
          <a:p>
            <a:pPr marL="342900" indent="-342900">
              <a:buSzPct val="100000"/>
              <a:buChar char="▪"/>
            </a:pPr>
            <a:r>
              <a:rPr lang="en-US" sz="1350" dirty="0">
                <a:solidFill>
                  <a:srgbClr val="1B2A3A"/>
                </a:solidFill>
                <a:latin typeface="Calibri" pitchFamily="34" charset="0"/>
                <a:ea typeface="Calibri" pitchFamily="34" charset="-122"/>
                <a:cs typeface="Calibri" pitchFamily="34" charset="-120"/>
              </a:rPr>
              <a:t>Wskazuje na uniwersalny charakter mechanizmów urazowości w piłce nożnej, niezależnie od poziomu rozgrywkowego</a:t>
            </a:r>
            <a:endParaRPr lang="en-US" sz="1350" dirty="0"/>
          </a:p>
        </p:txBody>
      </p:sp>
      <p:sp>
        <p:nvSpPr>
          <p:cNvPr id="7" name="Shape 5"/>
          <p:cNvSpPr/>
          <p:nvPr/>
        </p:nvSpPr>
        <p:spPr>
          <a:xfrm>
            <a:off x="6263640" y="1783080"/>
            <a:ext cx="5376672" cy="4434840"/>
          </a:xfrm>
          <a:prstGeom prst="roundRect">
            <a:avLst>
              <a:gd name="adj" fmla="val 1649"/>
            </a:avLst>
          </a:prstGeom>
          <a:solidFill>
            <a:srgbClr val="10263E"/>
          </a:solidFill>
          <a:ln/>
        </p:spPr>
      </p:sp>
      <p:sp>
        <p:nvSpPr>
          <p:cNvPr id="8" name="Text 6"/>
          <p:cNvSpPr txBox="1"/>
          <p:nvPr/>
        </p:nvSpPr>
        <p:spPr>
          <a:xfrm>
            <a:off x="6537960" y="2011680"/>
            <a:ext cx="4846320" cy="365760"/>
          </a:xfrm>
          <a:prstGeom prst="rect">
            <a:avLst/>
          </a:prstGeom>
          <a:noFill/>
          <a:ln/>
        </p:spPr>
        <p:txBody>
          <a:bodyPr wrap="square" lIns="0" tIns="0" rIns="0" bIns="0" rtlCol="0" anchor="ctr"/>
          <a:lstStyle/>
          <a:p>
            <a:pPr indent="0" marL="0">
              <a:buNone/>
            </a:pPr>
            <a:r>
              <a:rPr lang="en-US" sz="1600" b="1" dirty="0">
                <a:solidFill>
                  <a:srgbClr val="E8604C"/>
                </a:solidFill>
                <a:latin typeface="Cambria" pitchFamily="34" charset="0"/>
                <a:ea typeface="Cambria" pitchFamily="34" charset="-122"/>
                <a:cs typeface="Cambria" pitchFamily="34" charset="-120"/>
              </a:rPr>
              <a:t>Ograniczenia badania</a:t>
            </a:r>
            <a:endParaRPr lang="en-US" sz="1600" dirty="0"/>
          </a:p>
        </p:txBody>
      </p:sp>
      <p:sp>
        <p:nvSpPr>
          <p:cNvPr id="9" name="Text 7"/>
          <p:cNvSpPr txBox="1"/>
          <p:nvPr/>
        </p:nvSpPr>
        <p:spPr>
          <a:xfrm>
            <a:off x="6537960" y="2514600"/>
            <a:ext cx="4846320" cy="356616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Charakter przekrojowy — brak wnioskowania o przyczynowości</a:t>
            </a:r>
            <a:endParaRPr lang="en-US" sz="1300" dirty="0"/>
          </a:p>
          <a:p>
            <a:pPr marL="342900" indent="-342900">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Próba wygodna (convenience sample), zdominowana przez poziom amatorski (94,9%)</a:t>
            </a:r>
            <a:endParaRPr lang="en-US" sz="1300" dirty="0"/>
          </a:p>
          <a:p>
            <a:pPr marL="342900" indent="-342900">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Ryzyko błędu pamięci (recall bias) — dane do 24 miesięcy wstecz</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Kwestionariusz samoopisowy — ryzyko aprobaty społecznej</a:t>
            </a:r>
            <a:endParaRPr lang="en-US" sz="1300" dirty="0"/>
          </a:p>
        </p:txBody>
      </p:sp>
      <p:sp>
        <p:nvSpPr>
          <p:cNvPr id="10" name="Text 8"/>
          <p:cNvSpPr txBox="1"/>
          <p:nvPr/>
        </p:nvSpPr>
        <p:spPr>
          <a:xfrm>
            <a:off x="11368735" y="6355080"/>
            <a:ext cx="457200" cy="320040"/>
          </a:xfrm>
          <a:prstGeom prst="rect">
            <a:avLst/>
          </a:prstGeom>
          <a:noFill/>
          <a:ln/>
        </p:spPr>
        <p:txBody>
          <a:bodyPr wrap="square" lIns="0" tIns="0" rIns="0" bIns="0" rtlCol="0" anchor="ctr"/>
          <a:lstStyle/>
          <a:p>
            <a:pPr algn="r" indent="0" marL="0">
              <a:buNone/>
            </a:pPr>
            <a:r>
              <a:rPr lang="en-US" sz="1100" dirty="0">
                <a:solidFill>
                  <a:srgbClr val="5B6B7C"/>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A"/>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56032"/>
          </a:xfrm>
          <a:prstGeom prst="rect">
            <a:avLst/>
          </a:prstGeom>
          <a:noFill/>
          <a:ln/>
        </p:spPr>
        <p:txBody>
          <a:bodyPr wrap="square" lIns="0" tIns="0" rIns="0" bIns="0" rtlCol="0" anchor="t"/>
          <a:lstStyle/>
          <a:p>
            <a:pPr indent="0" marL="0">
              <a:buNone/>
            </a:pPr>
            <a:r>
              <a:rPr lang="en-US" sz="1300" b="1" spc="200" kern="0" dirty="0">
                <a:solidFill>
                  <a:srgbClr val="1E88A8"/>
                </a:solidFill>
                <a:latin typeface="Calibri" pitchFamily="34" charset="0"/>
                <a:ea typeface="Calibri" pitchFamily="34" charset="-122"/>
                <a:cs typeface="Calibri" pitchFamily="34" charset="-120"/>
              </a:rPr>
              <a:t>WNIOSKI KOŃCOWE</a:t>
            </a:r>
            <a:endParaRPr lang="en-US" sz="1300" dirty="0"/>
          </a:p>
        </p:txBody>
      </p:sp>
      <p:sp>
        <p:nvSpPr>
          <p:cNvPr id="3" name="Text 1"/>
          <p:cNvSpPr txBox="1"/>
          <p:nvPr/>
        </p:nvSpPr>
        <p:spPr>
          <a:xfrm>
            <a:off x="548640" y="749808"/>
            <a:ext cx="11064240" cy="822960"/>
          </a:xfrm>
          <a:prstGeom prst="rect">
            <a:avLst/>
          </a:prstGeom>
          <a:noFill/>
          <a:ln/>
        </p:spPr>
        <p:txBody>
          <a:bodyPr wrap="square" lIns="0" tIns="0" rIns="0" bIns="0" rtlCol="0" anchor="ctr"/>
          <a:lstStyle/>
          <a:p>
            <a:pPr indent="0" marL="0">
              <a:buNone/>
            </a:pPr>
            <a:r>
              <a:rPr lang="en-US" sz="3200" b="1" dirty="0">
                <a:solidFill>
                  <a:srgbClr val="10263E"/>
                </a:solidFill>
                <a:latin typeface="Cambria" pitchFamily="34" charset="0"/>
                <a:ea typeface="Cambria" pitchFamily="34" charset="-122"/>
                <a:cs typeface="Cambria" pitchFamily="34" charset="-120"/>
              </a:rPr>
              <a:t>Pięć głównych wniosków pracy</a:t>
            </a:r>
            <a:endParaRPr lang="en-US" sz="3200" dirty="0"/>
          </a:p>
        </p:txBody>
      </p:sp>
      <p:sp>
        <p:nvSpPr>
          <p:cNvPr id="4" name="Shape 2"/>
          <p:cNvSpPr/>
          <p:nvPr/>
        </p:nvSpPr>
        <p:spPr>
          <a:xfrm>
            <a:off x="548640" y="1783080"/>
            <a:ext cx="11064240" cy="868680"/>
          </a:xfrm>
          <a:prstGeom prst="roundRect">
            <a:avLst>
              <a:gd name="adj" fmla="val 7368"/>
            </a:avLst>
          </a:prstGeom>
          <a:solidFill>
            <a:srgbClr val="FFFFFF"/>
          </a:solidFill>
          <a:ln/>
          <a:effectLst>
            <a:outerShdw sx="100000" sy="100000" kx="0" ky="0" algn="bl" rotWithShape="0" blurRad="50800" dist="19050" dir="5400000">
              <a:srgbClr val="8AA0B4">
                <a:alpha val="18000"/>
              </a:srgbClr>
            </a:outerShdw>
          </a:effectLst>
        </p:spPr>
      </p:sp>
      <p:sp>
        <p:nvSpPr>
          <p:cNvPr id="5" name="Shape 3"/>
          <p:cNvSpPr/>
          <p:nvPr/>
        </p:nvSpPr>
        <p:spPr>
          <a:xfrm>
            <a:off x="822960" y="1924812"/>
            <a:ext cx="585216" cy="585216"/>
          </a:xfrm>
          <a:prstGeom prst="ellipse">
            <a:avLst/>
          </a:prstGeom>
          <a:solidFill>
            <a:srgbClr val="1E88A8"/>
          </a:solidFill>
          <a:ln/>
        </p:spPr>
      </p:sp>
      <p:sp>
        <p:nvSpPr>
          <p:cNvPr id="6" name="Text 4"/>
          <p:cNvSpPr txBox="1"/>
          <p:nvPr/>
        </p:nvSpPr>
        <p:spPr>
          <a:xfrm>
            <a:off x="822960" y="1924812"/>
            <a:ext cx="585216" cy="58521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691640" y="1783080"/>
            <a:ext cx="9692640" cy="868680"/>
          </a:xfrm>
          <a:prstGeom prst="rect">
            <a:avLst/>
          </a:prstGeom>
          <a:noFill/>
          <a:ln/>
        </p:spPr>
        <p:txBody>
          <a:bodyPr wrap="square" lIns="0" tIns="0" rIns="0" bIns="0" rtlCol="0" anchor="ctr"/>
          <a:lstStyle/>
          <a:p>
            <a:pPr indent="0" marL="0">
              <a:buNone/>
            </a:pPr>
            <a:r>
              <a:rPr lang="en-US" sz="1350" dirty="0">
                <a:solidFill>
                  <a:srgbClr val="1B2A3A"/>
                </a:solidFill>
                <a:latin typeface="Calibri" pitchFamily="34" charset="0"/>
                <a:ea typeface="Calibri" pitchFamily="34" charset="-122"/>
                <a:cs typeface="Calibri" pitchFamily="34" charset="-120"/>
              </a:rPr>
              <a:t>Wysoka ekspozycja na urazy (71,8%), z dominacją stawu skokowego i kolanowego</a:t>
            </a:r>
            <a:endParaRPr lang="en-US" sz="1350" dirty="0"/>
          </a:p>
        </p:txBody>
      </p:sp>
      <p:sp>
        <p:nvSpPr>
          <p:cNvPr id="8" name="Shape 6"/>
          <p:cNvSpPr/>
          <p:nvPr/>
        </p:nvSpPr>
        <p:spPr>
          <a:xfrm>
            <a:off x="548640" y="2743200"/>
            <a:ext cx="11064240" cy="868680"/>
          </a:xfrm>
          <a:prstGeom prst="roundRect">
            <a:avLst>
              <a:gd name="adj" fmla="val 7368"/>
            </a:avLst>
          </a:prstGeom>
          <a:solidFill>
            <a:srgbClr val="FFFFFF"/>
          </a:solidFill>
          <a:ln/>
          <a:effectLst>
            <a:outerShdw sx="100000" sy="100000" kx="0" ky="0" algn="bl" rotWithShape="0" blurRad="50800" dist="19050" dir="5400000">
              <a:srgbClr val="8AA0B4">
                <a:alpha val="18000"/>
              </a:srgbClr>
            </a:outerShdw>
          </a:effectLst>
        </p:spPr>
      </p:sp>
      <p:sp>
        <p:nvSpPr>
          <p:cNvPr id="9" name="Shape 7"/>
          <p:cNvSpPr/>
          <p:nvPr/>
        </p:nvSpPr>
        <p:spPr>
          <a:xfrm>
            <a:off x="822960" y="2884932"/>
            <a:ext cx="585216" cy="585216"/>
          </a:xfrm>
          <a:prstGeom prst="ellipse">
            <a:avLst/>
          </a:prstGeom>
          <a:solidFill>
            <a:srgbClr val="1E88A8"/>
          </a:solidFill>
          <a:ln/>
        </p:spPr>
      </p:sp>
      <p:sp>
        <p:nvSpPr>
          <p:cNvPr id="10" name="Text 8"/>
          <p:cNvSpPr txBox="1"/>
          <p:nvPr/>
        </p:nvSpPr>
        <p:spPr>
          <a:xfrm>
            <a:off x="822960" y="2884932"/>
            <a:ext cx="585216" cy="58521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txBox="1"/>
          <p:nvPr/>
        </p:nvSpPr>
        <p:spPr>
          <a:xfrm>
            <a:off x="1691640" y="2743200"/>
            <a:ext cx="9692640" cy="868680"/>
          </a:xfrm>
          <a:prstGeom prst="rect">
            <a:avLst/>
          </a:prstGeom>
          <a:noFill/>
          <a:ln/>
        </p:spPr>
        <p:txBody>
          <a:bodyPr wrap="square" lIns="0" tIns="0" rIns="0" bIns="0" rtlCol="0" anchor="ctr"/>
          <a:lstStyle/>
          <a:p>
            <a:pPr indent="0" marL="0">
              <a:buNone/>
            </a:pPr>
            <a:r>
              <a:rPr lang="en-US" sz="1350" dirty="0">
                <a:solidFill>
                  <a:srgbClr val="1B2A3A"/>
                </a:solidFill>
                <a:latin typeface="Calibri" pitchFamily="34" charset="0"/>
                <a:ea typeface="Calibri" pitchFamily="34" charset="-122"/>
                <a:cs typeface="Calibri" pitchFamily="34" charset="-120"/>
              </a:rPr>
              <a:t>Staż zawodniczy, nie wiek czy poziom rozgrywkowy, różnicuje ryzyko urazu — H1 potwierdzona częściowo</a:t>
            </a:r>
            <a:endParaRPr lang="en-US" sz="1350" dirty="0"/>
          </a:p>
        </p:txBody>
      </p:sp>
      <p:sp>
        <p:nvSpPr>
          <p:cNvPr id="12" name="Shape 10"/>
          <p:cNvSpPr/>
          <p:nvPr/>
        </p:nvSpPr>
        <p:spPr>
          <a:xfrm>
            <a:off x="548640" y="3703320"/>
            <a:ext cx="11064240" cy="868680"/>
          </a:xfrm>
          <a:prstGeom prst="roundRect">
            <a:avLst>
              <a:gd name="adj" fmla="val 7368"/>
            </a:avLst>
          </a:prstGeom>
          <a:solidFill>
            <a:srgbClr val="FFFFFF"/>
          </a:solidFill>
          <a:ln/>
          <a:effectLst>
            <a:outerShdw sx="100000" sy="100000" kx="0" ky="0" algn="bl" rotWithShape="0" blurRad="50800" dist="19050" dir="5400000">
              <a:srgbClr val="8AA0B4">
                <a:alpha val="18000"/>
              </a:srgbClr>
            </a:outerShdw>
          </a:effectLst>
        </p:spPr>
      </p:sp>
      <p:sp>
        <p:nvSpPr>
          <p:cNvPr id="13" name="Shape 11"/>
          <p:cNvSpPr/>
          <p:nvPr/>
        </p:nvSpPr>
        <p:spPr>
          <a:xfrm>
            <a:off x="822960" y="3845052"/>
            <a:ext cx="585216" cy="585216"/>
          </a:xfrm>
          <a:prstGeom prst="ellipse">
            <a:avLst/>
          </a:prstGeom>
          <a:solidFill>
            <a:srgbClr val="1E88A8"/>
          </a:solidFill>
          <a:ln/>
        </p:spPr>
      </p:sp>
      <p:sp>
        <p:nvSpPr>
          <p:cNvPr id="14" name="Text 12"/>
          <p:cNvSpPr txBox="1"/>
          <p:nvPr/>
        </p:nvSpPr>
        <p:spPr>
          <a:xfrm>
            <a:off x="822960" y="3845052"/>
            <a:ext cx="585216" cy="58521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3"/>
          <p:cNvSpPr txBox="1"/>
          <p:nvPr/>
        </p:nvSpPr>
        <p:spPr>
          <a:xfrm>
            <a:off x="1691640" y="3703320"/>
            <a:ext cx="9692640" cy="868680"/>
          </a:xfrm>
          <a:prstGeom prst="rect">
            <a:avLst/>
          </a:prstGeom>
          <a:noFill/>
          <a:ln/>
        </p:spPr>
        <p:txBody>
          <a:bodyPr wrap="square" lIns="0" tIns="0" rIns="0" bIns="0" rtlCol="0" anchor="ctr"/>
          <a:lstStyle/>
          <a:p>
            <a:pPr indent="0" marL="0">
              <a:buNone/>
            </a:pPr>
            <a:r>
              <a:rPr lang="en-US" sz="1350" dirty="0">
                <a:solidFill>
                  <a:srgbClr val="1B2A3A"/>
                </a:solidFill>
                <a:latin typeface="Calibri" pitchFamily="34" charset="0"/>
                <a:ea typeface="Calibri" pitchFamily="34" charset="-122"/>
                <a:cs typeface="Calibri" pitchFamily="34" charset="-120"/>
              </a:rPr>
              <a:t>Proces RTP w większości nieobiektywizowany, istotny związek z kinezjofobią — H3 potwierdzona</a:t>
            </a:r>
            <a:endParaRPr lang="en-US" sz="1350" dirty="0"/>
          </a:p>
        </p:txBody>
      </p:sp>
      <p:sp>
        <p:nvSpPr>
          <p:cNvPr id="16" name="Shape 14"/>
          <p:cNvSpPr/>
          <p:nvPr/>
        </p:nvSpPr>
        <p:spPr>
          <a:xfrm>
            <a:off x="548640" y="4663440"/>
            <a:ext cx="11064240" cy="868680"/>
          </a:xfrm>
          <a:prstGeom prst="roundRect">
            <a:avLst>
              <a:gd name="adj" fmla="val 7368"/>
            </a:avLst>
          </a:prstGeom>
          <a:solidFill>
            <a:srgbClr val="FFFFFF"/>
          </a:solidFill>
          <a:ln/>
          <a:effectLst>
            <a:outerShdw sx="100000" sy="100000" kx="0" ky="0" algn="bl" rotWithShape="0" blurRad="50800" dist="19050" dir="5400000">
              <a:srgbClr val="8AA0B4">
                <a:alpha val="18000"/>
              </a:srgbClr>
            </a:outerShdw>
          </a:effectLst>
        </p:spPr>
      </p:sp>
      <p:sp>
        <p:nvSpPr>
          <p:cNvPr id="17" name="Shape 15"/>
          <p:cNvSpPr/>
          <p:nvPr/>
        </p:nvSpPr>
        <p:spPr>
          <a:xfrm>
            <a:off x="822960" y="4805172"/>
            <a:ext cx="585216" cy="585216"/>
          </a:xfrm>
          <a:prstGeom prst="ellipse">
            <a:avLst/>
          </a:prstGeom>
          <a:solidFill>
            <a:srgbClr val="5B6B7C"/>
          </a:solidFill>
          <a:ln/>
        </p:spPr>
      </p:sp>
      <p:sp>
        <p:nvSpPr>
          <p:cNvPr id="18" name="Text 16"/>
          <p:cNvSpPr txBox="1"/>
          <p:nvPr/>
        </p:nvSpPr>
        <p:spPr>
          <a:xfrm>
            <a:off x="822960" y="4805172"/>
            <a:ext cx="585216" cy="58521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9" name="Text 17"/>
          <p:cNvSpPr txBox="1"/>
          <p:nvPr/>
        </p:nvSpPr>
        <p:spPr>
          <a:xfrm>
            <a:off x="1691640" y="4663440"/>
            <a:ext cx="9692640" cy="868680"/>
          </a:xfrm>
          <a:prstGeom prst="rect">
            <a:avLst/>
          </a:prstGeom>
          <a:noFill/>
          <a:ln/>
        </p:spPr>
        <p:txBody>
          <a:bodyPr wrap="square" lIns="0" tIns="0" rIns="0" bIns="0" rtlCol="0" anchor="ctr"/>
          <a:lstStyle/>
          <a:p>
            <a:pPr indent="0" marL="0">
              <a:buNone/>
            </a:pPr>
            <a:r>
              <a:rPr lang="en-US" sz="1350" dirty="0">
                <a:solidFill>
                  <a:srgbClr val="1B2A3A"/>
                </a:solidFill>
                <a:latin typeface="Calibri" pitchFamily="34" charset="0"/>
                <a:ea typeface="Calibri" pitchFamily="34" charset="-122"/>
                <a:cs typeface="Calibri" pitchFamily="34" charset="-120"/>
              </a:rPr>
              <a:t>Brak istotnych związków dla mechanizmu urazu (H2) i profilaktyki (H4)</a:t>
            </a:r>
            <a:endParaRPr lang="en-US" sz="1350" dirty="0"/>
          </a:p>
        </p:txBody>
      </p:sp>
      <p:sp>
        <p:nvSpPr>
          <p:cNvPr id="20" name="Shape 18"/>
          <p:cNvSpPr/>
          <p:nvPr/>
        </p:nvSpPr>
        <p:spPr>
          <a:xfrm>
            <a:off x="548640" y="5623560"/>
            <a:ext cx="11064240" cy="868680"/>
          </a:xfrm>
          <a:prstGeom prst="roundRect">
            <a:avLst>
              <a:gd name="adj" fmla="val 7368"/>
            </a:avLst>
          </a:prstGeom>
          <a:solidFill>
            <a:srgbClr val="FFFFFF"/>
          </a:solidFill>
          <a:ln/>
          <a:effectLst>
            <a:outerShdw sx="100000" sy="100000" kx="0" ky="0" algn="bl" rotWithShape="0" blurRad="50800" dist="19050" dir="5400000">
              <a:srgbClr val="8AA0B4">
                <a:alpha val="18000"/>
              </a:srgbClr>
            </a:outerShdw>
          </a:effectLst>
        </p:spPr>
      </p:sp>
      <p:sp>
        <p:nvSpPr>
          <p:cNvPr id="21" name="Shape 19"/>
          <p:cNvSpPr/>
          <p:nvPr/>
        </p:nvSpPr>
        <p:spPr>
          <a:xfrm>
            <a:off x="822960" y="5765292"/>
            <a:ext cx="585216" cy="585216"/>
          </a:xfrm>
          <a:prstGeom prst="ellipse">
            <a:avLst/>
          </a:prstGeom>
          <a:solidFill>
            <a:srgbClr val="1E88A8"/>
          </a:solidFill>
          <a:ln/>
        </p:spPr>
      </p:sp>
      <p:sp>
        <p:nvSpPr>
          <p:cNvPr id="22" name="Text 20"/>
          <p:cNvSpPr txBox="1"/>
          <p:nvPr/>
        </p:nvSpPr>
        <p:spPr>
          <a:xfrm>
            <a:off x="822960" y="5765292"/>
            <a:ext cx="585216" cy="58521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3" name="Text 21"/>
          <p:cNvSpPr txBox="1"/>
          <p:nvPr/>
        </p:nvSpPr>
        <p:spPr>
          <a:xfrm>
            <a:off x="1691640" y="5623560"/>
            <a:ext cx="9692640" cy="868680"/>
          </a:xfrm>
          <a:prstGeom prst="rect">
            <a:avLst/>
          </a:prstGeom>
          <a:noFill/>
          <a:ln/>
        </p:spPr>
        <p:txBody>
          <a:bodyPr wrap="square" lIns="0" tIns="0" rIns="0" bIns="0" rtlCol="0" anchor="ctr"/>
          <a:lstStyle/>
          <a:p>
            <a:pPr indent="0" marL="0">
              <a:buNone/>
            </a:pPr>
            <a:r>
              <a:rPr lang="en-US" sz="1350" dirty="0">
                <a:solidFill>
                  <a:srgbClr val="1B2A3A"/>
                </a:solidFill>
                <a:latin typeface="Calibri" pitchFamily="34" charset="0"/>
                <a:ea typeface="Calibri" pitchFamily="34" charset="-122"/>
                <a:cs typeface="Calibri" pitchFamily="34" charset="-120"/>
              </a:rPr>
              <a:t>Opracowano 3 modelowe protokoły usprawniania oparte na criteria-based RTP</a:t>
            </a:r>
            <a:endParaRPr lang="en-US" sz="1350" dirty="0"/>
          </a:p>
        </p:txBody>
      </p:sp>
      <p:sp>
        <p:nvSpPr>
          <p:cNvPr id="24" name="Text 22"/>
          <p:cNvSpPr txBox="1"/>
          <p:nvPr/>
        </p:nvSpPr>
        <p:spPr>
          <a:xfrm>
            <a:off x="11368735" y="6355080"/>
            <a:ext cx="457200" cy="320040"/>
          </a:xfrm>
          <a:prstGeom prst="rect">
            <a:avLst/>
          </a:prstGeom>
          <a:noFill/>
          <a:ln/>
        </p:spPr>
        <p:txBody>
          <a:bodyPr wrap="square" lIns="0" tIns="0" rIns="0" bIns="0" rtlCol="0" anchor="ctr"/>
          <a:lstStyle/>
          <a:p>
            <a:pPr algn="r" indent="0" marL="0">
              <a:buNone/>
            </a:pPr>
            <a:r>
              <a:rPr lang="en-US" sz="1100" dirty="0">
                <a:solidFill>
                  <a:srgbClr val="5B6B7C"/>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263E"/>
        </a:solidFill>
      </p:bgPr>
    </p:bg>
    <p:spTree>
      <p:nvGrpSpPr>
        <p:cNvPr id="1" name=""/>
        <p:cNvGrpSpPr/>
        <p:nvPr/>
      </p:nvGrpSpPr>
      <p:grpSpPr>
        <a:xfrm>
          <a:off x="0" y="0"/>
          <a:ext cx="0" cy="0"/>
          <a:chOff x="0" y="0"/>
          <a:chExt cx="0" cy="0"/>
        </a:xfrm>
      </p:grpSpPr>
      <p:sp>
        <p:nvSpPr>
          <p:cNvPr id="2" name="Shape 0"/>
          <p:cNvSpPr/>
          <p:nvPr/>
        </p:nvSpPr>
        <p:spPr>
          <a:xfrm>
            <a:off x="-2011680" y="3474720"/>
            <a:ext cx="5486400" cy="5486400"/>
          </a:xfrm>
          <a:prstGeom prst="ellipse">
            <a:avLst/>
          </a:prstGeom>
          <a:solidFill>
            <a:srgbClr val="16304F"/>
          </a:solidFill>
          <a:ln/>
        </p:spPr>
      </p:sp>
      <p:sp>
        <p:nvSpPr>
          <p:cNvPr id="3" name="Shape 1"/>
          <p:cNvSpPr/>
          <p:nvPr/>
        </p:nvSpPr>
        <p:spPr>
          <a:xfrm>
            <a:off x="9692640" y="-2286000"/>
            <a:ext cx="5029200" cy="5029200"/>
          </a:xfrm>
          <a:prstGeom prst="ellipse">
            <a:avLst/>
          </a:prstGeom>
          <a:solidFill>
            <a:srgbClr val="1E88A8"/>
          </a:solidFill>
          <a:ln/>
        </p:spPr>
      </p:sp>
      <p:sp>
        <p:nvSpPr>
          <p:cNvPr id="4" name="Text 2"/>
          <p:cNvSpPr txBox="1"/>
          <p:nvPr/>
        </p:nvSpPr>
        <p:spPr>
          <a:xfrm>
            <a:off x="0" y="2468880"/>
            <a:ext cx="12191695" cy="1005840"/>
          </a:xfrm>
          <a:prstGeom prst="rect">
            <a:avLst/>
          </a:prstGeom>
          <a:noFill/>
          <a:ln/>
        </p:spPr>
        <p:txBody>
          <a:bodyPr wrap="square" lIns="0" tIns="0" rIns="0" bIns="0"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Dziękuję za uwagę</a:t>
            </a:r>
            <a:endParaRPr lang="en-US" sz="4200" dirty="0"/>
          </a:p>
        </p:txBody>
      </p:sp>
      <p:sp>
        <p:nvSpPr>
          <p:cNvPr id="5" name="Text 3"/>
          <p:cNvSpPr txBox="1"/>
          <p:nvPr/>
        </p:nvSpPr>
        <p:spPr>
          <a:xfrm>
            <a:off x="0" y="3520440"/>
            <a:ext cx="12191695" cy="548640"/>
          </a:xfrm>
          <a:prstGeom prst="rect">
            <a:avLst/>
          </a:prstGeom>
          <a:noFill/>
          <a:ln/>
        </p:spPr>
        <p:txBody>
          <a:bodyPr wrap="square" lIns="0" tIns="0" rIns="0" bIns="0" rtlCol="0" anchor="ctr"/>
          <a:lstStyle/>
          <a:p>
            <a:pPr algn="ctr" indent="0" marL="0">
              <a:buNone/>
            </a:pPr>
            <a:r>
              <a:rPr lang="en-US" sz="1700" i="1" dirty="0">
                <a:solidFill>
                  <a:srgbClr val="1E88A8"/>
                </a:solidFill>
                <a:latin typeface="Calibri" pitchFamily="34" charset="0"/>
                <a:ea typeface="Calibri" pitchFamily="34" charset="-122"/>
                <a:cs typeface="Calibri" pitchFamily="34" charset="-120"/>
              </a:rPr>
              <a:t>Zapraszam Komisję do dyskusji i pytań</a:t>
            </a:r>
            <a:endParaRPr lang="en-US" sz="1700" dirty="0"/>
          </a:p>
        </p:txBody>
      </p:sp>
      <p:sp>
        <p:nvSpPr>
          <p:cNvPr id="6" name="Text 4"/>
          <p:cNvSpPr txBox="1"/>
          <p:nvPr/>
        </p:nvSpPr>
        <p:spPr>
          <a:xfrm>
            <a:off x="0" y="6126480"/>
            <a:ext cx="12191695" cy="365760"/>
          </a:xfrm>
          <a:prstGeom prst="rect">
            <a:avLst/>
          </a:prstGeom>
          <a:noFill/>
          <a:ln/>
        </p:spPr>
        <p:txBody>
          <a:bodyPr wrap="square" lIns="0" tIns="0" rIns="0" bIns="0" rtlCol="0" anchor="ctr"/>
          <a:lstStyle/>
          <a:p>
            <a:pPr algn="ctr" indent="0" marL="0">
              <a:buNone/>
            </a:pPr>
            <a:r>
              <a:rPr lang="en-US" sz="1100" dirty="0">
                <a:solidFill>
                  <a:srgbClr val="7C90A3"/>
                </a:solidFill>
                <a:latin typeface="Calibri" pitchFamily="34" charset="0"/>
                <a:ea typeface="Calibri" pitchFamily="34" charset="-122"/>
                <a:cs typeface="Calibri" pitchFamily="34" charset="-120"/>
              </a:rPr>
              <a:t>Mateusz Klapczyński  •  Fizjoterapia  •  Uniwersytet Medyczny im. Karola Marcinkowskiego w Poznaniu</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Obrona pracy magisterskiej</dc:title>
  <dc:subject>PptxGenJS Presentation</dc:subject>
  <dc:creator>Mateusz Klapczyński</dc:creator>
  <cp:lastModifiedBy>Mateusz Klapczyński</cp:lastModifiedBy>
  <cp:revision>1</cp:revision>
  <dcterms:created xsi:type="dcterms:W3CDTF">2026-09-11T11:22:21Z</dcterms:created>
  <dcterms:modified xsi:type="dcterms:W3CDTF">2026-09-11T11:22:21Z</dcterms:modified>
</cp:coreProperties>
</file>